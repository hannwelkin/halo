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5" d="100"/>
          <a:sy n="105" d="100"/>
        </p:scale>
        <p:origin x="79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801C42-9051-D277-A70E-B48F498BA79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96FD1CC-695A-6A54-8364-671617CB865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0A11E3C-923C-18C5-5A6D-6C59AE84BD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811C8E-6063-4129-BD22-C069975A38E6}" type="datetimeFigureOut">
              <a:rPr lang="en-US" smtClean="0"/>
              <a:t>9/1/2026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4F21628-89C4-93FC-1936-C60140A840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E372637-2E75-F48C-D3B1-6495F6B3F7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020A68-B925-4CDA-B13B-CB638677D8F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2236909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F469A6-2BB1-4542-C368-BEB928607B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1922E6E-D49D-7CD0-B105-78DB7389F4A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E5DA56D-81FD-6110-076E-ED804573B4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811C8E-6063-4129-BD22-C069975A38E6}" type="datetimeFigureOut">
              <a:rPr lang="en-US" smtClean="0"/>
              <a:t>9/1/2026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46BE029-DB1F-7C7B-081D-9EDECD76A6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ABCFC28-041B-6728-64C7-A7CDC0CC34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020A68-B925-4CDA-B13B-CB638677D8F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030577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C0AA1F-A754-F9E2-C347-ABEF58E82A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B4A16BD-A542-7C4E-9901-FB4A2211675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3C45571-44DC-2198-E372-1427CBE389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811C8E-6063-4129-BD22-C069975A38E6}" type="datetimeFigureOut">
              <a:rPr lang="en-US" smtClean="0"/>
              <a:t>9/1/2026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514C251-5713-60E8-A9D7-3A7DA6A095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6EF2D57-F213-B586-7285-259FEA72A5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020A68-B925-4CDA-B13B-CB638677D8F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928100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F04CC2-E08B-47EE-4C29-FB141E17CA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7A1C518-FDA3-5827-26B9-C0D319822B9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BD2CE2E-C08B-716C-F871-1E315BEB381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8D7BF63-D793-21E3-12B2-AEFC4B90C7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811C8E-6063-4129-BD22-C069975A38E6}" type="datetimeFigureOut">
              <a:rPr lang="en-US" smtClean="0"/>
              <a:t>9/1/2026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8530B48-725E-5209-4E19-2B609AC132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5FDD292-D298-20E4-965C-A0CD850A5A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020A68-B925-4CDA-B13B-CB638677D8F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8530512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BF068D-B1C5-1657-43EB-E94BD59924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FDA2BF6-AE75-2B4B-C670-9E348F2E0EE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50CA2E2-B79A-7DD4-4CF8-E08A758F313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147E6F2-1FBE-F7CA-E995-03DC90D46AF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F66EBDD-5D87-5542-7973-03C5DE761D0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0C2BD17-0CD8-AE4E-E01E-CF26A8A70A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811C8E-6063-4129-BD22-C069975A38E6}" type="datetimeFigureOut">
              <a:rPr lang="en-US" smtClean="0"/>
              <a:t>9/1/2026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5F29E5F-7959-71AA-0BDE-650C945D61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F7B30D2-81B7-9266-4D84-3FD79B6A8F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020A68-B925-4CDA-B13B-CB638677D8F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53891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1BCA2E-B213-2F1F-41AE-9FB3155F33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E8E97AA-BD23-C149-2FAE-92476065FC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811C8E-6063-4129-BD22-C069975A38E6}" type="datetimeFigureOut">
              <a:rPr lang="en-US" smtClean="0"/>
              <a:t>9/1/2026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81BD30B-B0B1-B77E-B149-E4E10FA8A1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1221539-EE21-9E36-C251-C72FE3FAE2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020A68-B925-4CDA-B13B-CB638677D8F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515806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F692383-A50B-9711-6E52-618B19D753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811C8E-6063-4129-BD22-C069975A38E6}" type="datetimeFigureOut">
              <a:rPr lang="en-US" smtClean="0"/>
              <a:t>9/1/2026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C3E71A3-BF6F-062D-2F1A-3E871D8C70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E254246-F278-29C4-3EB6-302DA1424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020A68-B925-4CDA-B13B-CB638677D8F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992192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4D01CB-5226-48EC-E15E-02376C832E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C833109-487F-B702-092B-B99E6F2655D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8E4A705-5223-5B5A-2479-415E6346BB5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A55456B-FEC6-A8A7-CCAD-717408FCBD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811C8E-6063-4129-BD22-C069975A38E6}" type="datetimeFigureOut">
              <a:rPr lang="en-US" smtClean="0"/>
              <a:t>9/1/2026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6892CAA-A12F-3BD1-B01C-D885D4252E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CA81860-A52B-85A3-24D9-1BCE453841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020A68-B925-4CDA-B13B-CB638677D8F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9281687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616027-2D34-1FAB-E6B0-F9A92A33C9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5F73E9C-B29E-B842-7AF4-BF6690C5F5C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B7C9568-D6FF-A060-BC4A-1BCAF8E332E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130B844-8980-CEE6-77AC-B4E78383F7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811C8E-6063-4129-BD22-C069975A38E6}" type="datetimeFigureOut">
              <a:rPr lang="en-US" smtClean="0"/>
              <a:t>9/1/2026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C910A86-B436-17DC-55ED-4BE2A4FE53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F4B9DF8-8239-0DA0-776A-E1A5DAFDEC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020A68-B925-4CDA-B13B-CB638677D8F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406104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5DF4DD-AC6E-4BA0-279F-0CA960E572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351C5F5-311A-C3F1-2401-DC61ED498B8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93AA952-F198-8B1C-A8A3-3A598A399D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811C8E-6063-4129-BD22-C069975A38E6}" type="datetimeFigureOut">
              <a:rPr lang="en-US" smtClean="0"/>
              <a:t>9/1/2026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9609795-5F2F-10D1-1FF2-6CC9CC193F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5BC593C-BE54-2E3B-7D5F-86AEBC131B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020A68-B925-4CDA-B13B-CB638677D8F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05291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E4C2589-FB1D-6EA1-87AA-6398EE3C166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A44E556-1781-F350-FE78-B3A0002E148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9FD8EEC-B002-E672-AC2E-F1977B432C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811C8E-6063-4129-BD22-C069975A38E6}" type="datetimeFigureOut">
              <a:rPr lang="en-US" smtClean="0"/>
              <a:t>9/1/2026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425C241-A8AC-9302-C8EA-90DCB165B8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6DB6C79-7851-DEB1-A090-7BA684E35F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020A68-B925-4CDA-B13B-CB638677D8F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450488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F8FF0A2-783F-3EDB-0890-AE0F06CC53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9F6F911-60CC-3E28-B3F4-D88C1BA943E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FED06E4-F87D-7C75-1359-55F412D3941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2811C8E-6063-4129-BD22-C069975A38E6}" type="datetimeFigureOut">
              <a:rPr lang="en-US" smtClean="0"/>
              <a:t>9/1/2026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EA69466-4369-A56E-1E8D-9FA41FA97D4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57FC501-76B9-A361-5387-A4DB2BCA7ED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1020A68-B925-4CDA-B13B-CB638677D8F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600629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svg"/><Relationship Id="rId7" Type="http://schemas.openxmlformats.org/officeDocument/2006/relationships/image" Target="../media/image6.pn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9" Type="http://schemas.openxmlformats.org/officeDocument/2006/relationships/image" Target="../media/image3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840319E4-E57C-CF2A-D0D2-393D7B542DAF}"/>
              </a:ext>
            </a:extLst>
          </p:cNvPr>
          <p:cNvSpPr txBox="1"/>
          <p:nvPr/>
        </p:nvSpPr>
        <p:spPr>
          <a:xfrm>
            <a:off x="356527" y="290530"/>
            <a:ext cx="54847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A. </a:t>
            </a:r>
            <a:r>
              <a:rPr lang="en-US" sz="1600" dirty="0"/>
              <a:t>Data preprocessing</a:t>
            </a:r>
            <a:endParaRPr lang="en-US" sz="2001" dirty="0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B385EF19-2C34-F5EC-27D7-CD1AE49EDE85}"/>
              </a:ext>
            </a:extLst>
          </p:cNvPr>
          <p:cNvGrpSpPr/>
          <p:nvPr/>
        </p:nvGrpSpPr>
        <p:grpSpPr>
          <a:xfrm>
            <a:off x="10146436" y="901708"/>
            <a:ext cx="1920219" cy="977846"/>
            <a:chOff x="4598924" y="4776369"/>
            <a:chExt cx="2972700" cy="1062282"/>
          </a:xfrm>
        </p:grpSpPr>
        <p:sp>
          <p:nvSpPr>
            <p:cNvPr id="44" name="Rectangle: Rounded Corners 43">
              <a:extLst>
                <a:ext uri="{FF2B5EF4-FFF2-40B4-BE49-F238E27FC236}">
                  <a16:creationId xmlns:a16="http://schemas.microsoft.com/office/drawing/2014/main" id="{C0BEB3EB-7C5E-CBFD-C861-54A7E879CA6E}"/>
                </a:ext>
              </a:extLst>
            </p:cNvPr>
            <p:cNvSpPr/>
            <p:nvPr/>
          </p:nvSpPr>
          <p:spPr>
            <a:xfrm>
              <a:off x="4598924" y="4776369"/>
              <a:ext cx="2935575" cy="1062282"/>
            </a:xfrm>
            <a:prstGeom prst="roundRect">
              <a:avLst/>
            </a:prstGeom>
            <a:solidFill>
              <a:srgbClr val="C7C7C7"/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373" dirty="0"/>
            </a:p>
          </p:txBody>
        </p: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D3262B23-BF91-1C13-7FB3-A789A67F09A4}"/>
                </a:ext>
              </a:extLst>
            </p:cNvPr>
            <p:cNvSpPr txBox="1"/>
            <p:nvPr/>
          </p:nvSpPr>
          <p:spPr>
            <a:xfrm>
              <a:off x="4636049" y="4988698"/>
              <a:ext cx="2935575" cy="6519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100" b="1" dirty="0"/>
                <a:t>Final evaluation set – 34 drug pair instances</a:t>
              </a:r>
              <a:br>
                <a:rPr lang="en-US" sz="1100" dirty="0"/>
              </a:br>
              <a:r>
                <a:rPr lang="en-US" sz="1100" dirty="0"/>
                <a:t> 17 antibacterials</a:t>
              </a:r>
            </a:p>
          </p:txBody>
        </p:sp>
      </p:grpSp>
      <p:pic>
        <p:nvPicPr>
          <p:cNvPr id="8" name="Graphic 7">
            <a:extLst>
              <a:ext uri="{FF2B5EF4-FFF2-40B4-BE49-F238E27FC236}">
                <a16:creationId xmlns:a16="http://schemas.microsoft.com/office/drawing/2014/main" id="{A371296E-163E-AF2B-B626-0489A222CC0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699247" y="1718908"/>
            <a:ext cx="261050" cy="321292"/>
          </a:xfrm>
          <a:prstGeom prst="rect">
            <a:avLst/>
          </a:prstGeom>
        </p:spPr>
      </p:pic>
      <p:grpSp>
        <p:nvGrpSpPr>
          <p:cNvPr id="9" name="Group 8">
            <a:extLst>
              <a:ext uri="{FF2B5EF4-FFF2-40B4-BE49-F238E27FC236}">
                <a16:creationId xmlns:a16="http://schemas.microsoft.com/office/drawing/2014/main" id="{14ACDC15-30E7-054A-CEEB-2C2161864CAF}"/>
              </a:ext>
            </a:extLst>
          </p:cNvPr>
          <p:cNvGrpSpPr/>
          <p:nvPr/>
        </p:nvGrpSpPr>
        <p:grpSpPr>
          <a:xfrm>
            <a:off x="5920465" y="921484"/>
            <a:ext cx="4281018" cy="944678"/>
            <a:chOff x="5625157" y="1430728"/>
            <a:chExt cx="4281018" cy="944678"/>
          </a:xfrm>
        </p:grpSpPr>
        <p:grpSp>
          <p:nvGrpSpPr>
            <p:cNvPr id="29" name="Group 28">
              <a:extLst>
                <a:ext uri="{FF2B5EF4-FFF2-40B4-BE49-F238E27FC236}">
                  <a16:creationId xmlns:a16="http://schemas.microsoft.com/office/drawing/2014/main" id="{36A309C1-2E52-481B-DC4A-1A9CF75C8870}"/>
                </a:ext>
              </a:extLst>
            </p:cNvPr>
            <p:cNvGrpSpPr/>
            <p:nvPr/>
          </p:nvGrpSpPr>
          <p:grpSpPr>
            <a:xfrm>
              <a:off x="6754672" y="1430728"/>
              <a:ext cx="3151503" cy="944678"/>
              <a:chOff x="7393507" y="1012899"/>
              <a:chExt cx="3151503" cy="944678"/>
            </a:xfrm>
          </p:grpSpPr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CD865DF0-F9ED-FBA3-FBE2-D568656DE534}"/>
                  </a:ext>
                </a:extLst>
              </p:cNvPr>
              <p:cNvSpPr txBox="1"/>
              <p:nvPr/>
            </p:nvSpPr>
            <p:spPr>
              <a:xfrm>
                <a:off x="9328603" y="1020533"/>
                <a:ext cx="1085788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200" dirty="0"/>
                  <a:t>Synergy</a:t>
                </a:r>
              </a:p>
            </p:txBody>
          </p:sp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769F8229-3F6B-D414-9EF3-06987A327FF0}"/>
                  </a:ext>
                </a:extLst>
              </p:cNvPr>
              <p:cNvSpPr txBox="1"/>
              <p:nvPr/>
            </p:nvSpPr>
            <p:spPr>
              <a:xfrm>
                <a:off x="9340689" y="1368222"/>
                <a:ext cx="1204321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200" dirty="0"/>
                  <a:t>Additivity </a:t>
                </a:r>
              </a:p>
            </p:txBody>
          </p:sp>
          <p:grpSp>
            <p:nvGrpSpPr>
              <p:cNvPr id="33" name="Group 32">
                <a:extLst>
                  <a:ext uri="{FF2B5EF4-FFF2-40B4-BE49-F238E27FC236}">
                    <a16:creationId xmlns:a16="http://schemas.microsoft.com/office/drawing/2014/main" id="{74091AEF-A775-58C8-105F-97EF4D91914D}"/>
                  </a:ext>
                </a:extLst>
              </p:cNvPr>
              <p:cNvGrpSpPr/>
              <p:nvPr/>
            </p:nvGrpSpPr>
            <p:grpSpPr>
              <a:xfrm>
                <a:off x="7393507" y="1012899"/>
                <a:ext cx="3144418" cy="944678"/>
                <a:chOff x="7393507" y="1012899"/>
                <a:chExt cx="3144418" cy="944678"/>
              </a:xfrm>
            </p:grpSpPr>
            <p:grpSp>
              <p:nvGrpSpPr>
                <p:cNvPr id="34" name="Group 33">
                  <a:extLst>
                    <a:ext uri="{FF2B5EF4-FFF2-40B4-BE49-F238E27FC236}">
                      <a16:creationId xmlns:a16="http://schemas.microsoft.com/office/drawing/2014/main" id="{04B2FCB9-102D-DBC8-F6D4-E78194ECC9F6}"/>
                    </a:ext>
                  </a:extLst>
                </p:cNvPr>
                <p:cNvGrpSpPr/>
                <p:nvPr/>
              </p:nvGrpSpPr>
              <p:grpSpPr>
                <a:xfrm>
                  <a:off x="7393507" y="1085914"/>
                  <a:ext cx="1921092" cy="810631"/>
                  <a:chOff x="7413954" y="1077600"/>
                  <a:chExt cx="1921092" cy="810631"/>
                </a:xfrm>
              </p:grpSpPr>
              <p:pic>
                <p:nvPicPr>
                  <p:cNvPr id="40" name="Graphic 39">
                    <a:extLst>
                      <a:ext uri="{FF2B5EF4-FFF2-40B4-BE49-F238E27FC236}">
                        <a16:creationId xmlns:a16="http://schemas.microsoft.com/office/drawing/2014/main" id="{4ED82DA9-B0E8-A18C-D1A3-20B7B7A2EC92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>
                    <a:extLst>
                      <a:ext uri="{96DAC541-7B7A-43D3-8B79-37D633B846F1}">
                        <asvg:svgBlip xmlns:asvg="http://schemas.microsoft.com/office/drawing/2016/SVG/main" r:embed="rId3"/>
                      </a:ext>
                    </a:extLst>
                  </a:blip>
                  <a:stretch>
                    <a:fillRect/>
                  </a:stretch>
                </p:blipFill>
                <p:spPr>
                  <a:xfrm>
                    <a:off x="7413954" y="1077600"/>
                    <a:ext cx="668312" cy="810631"/>
                  </a:xfrm>
                  <a:prstGeom prst="rect">
                    <a:avLst/>
                  </a:prstGeom>
                </p:spPr>
              </p:pic>
              <p:grpSp>
                <p:nvGrpSpPr>
                  <p:cNvPr id="41" name="Group 40">
                    <a:extLst>
                      <a:ext uri="{FF2B5EF4-FFF2-40B4-BE49-F238E27FC236}">
                        <a16:creationId xmlns:a16="http://schemas.microsoft.com/office/drawing/2014/main" id="{C0928299-BBE2-894E-F041-45AAD2CF7860}"/>
                      </a:ext>
                    </a:extLst>
                  </p:cNvPr>
                  <p:cNvGrpSpPr/>
                  <p:nvPr/>
                </p:nvGrpSpPr>
                <p:grpSpPr>
                  <a:xfrm>
                    <a:off x="8059594" y="1355196"/>
                    <a:ext cx="1275452" cy="255762"/>
                    <a:chOff x="7924228" y="59196"/>
                    <a:chExt cx="1275452" cy="255762"/>
                  </a:xfrm>
                </p:grpSpPr>
                <p:sp>
                  <p:nvSpPr>
                    <p:cNvPr id="42" name="Rectangle: Rounded Corners 41">
                      <a:extLst>
                        <a:ext uri="{FF2B5EF4-FFF2-40B4-BE49-F238E27FC236}">
                          <a16:creationId xmlns:a16="http://schemas.microsoft.com/office/drawing/2014/main" id="{2BA8C0C0-AA8F-C368-FB38-2DE661201DF9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965904" y="59196"/>
                      <a:ext cx="1204321" cy="230414"/>
                    </a:xfrm>
                    <a:prstGeom prst="roundRect">
                      <a:avLst/>
                    </a:prstGeom>
                    <a:solidFill>
                      <a:schemeClr val="bg1">
                        <a:lumMod val="95000"/>
                      </a:schemeClr>
                    </a:solidFill>
                    <a:ln>
                      <a:solidFill>
                        <a:schemeClr val="bg1">
                          <a:lumMod val="8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373"/>
                    </a:p>
                  </p:txBody>
                </p:sp>
                <mc:AlternateContent xmlns:mc="http://schemas.openxmlformats.org/markup-compatibility/2006" xmlns:a14="http://schemas.microsoft.com/office/drawing/2010/main">
                  <mc:Choice Requires="a14">
                    <p:sp>
                      <p:nvSpPr>
                        <p:cNvPr id="43" name="TextBox 42">
                          <a:extLst>
                            <a:ext uri="{FF2B5EF4-FFF2-40B4-BE49-F238E27FC236}">
                              <a16:creationId xmlns:a16="http://schemas.microsoft.com/office/drawing/2014/main" id="{F71D505C-FC76-C59E-E2C4-056074DE86E9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>
                          <a:off x="7924228" y="68865"/>
                          <a:ext cx="1275452" cy="246093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square">
                          <a:spAutoFit/>
                        </a:bodyPr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r>
                                  <a:rPr lang="en-US" sz="999" smtClean="0">
                                    <a:latin typeface="Cambria Math" panose="02040503050406030204" pitchFamily="18" charset="0"/>
                                  </a:rPr>
                                  <m:t>−0.</m:t>
                                </m:r>
                                <m:r>
                                  <a:rPr lang="en-US" sz="999" i="1">
                                    <a:latin typeface="Cambria Math" panose="02040503050406030204" pitchFamily="18" charset="0"/>
                                  </a:rPr>
                                  <m:t>5</m:t>
                                </m:r>
                                <m:r>
                                  <a:rPr lang="en-US" sz="999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≤</m:t>
                                </m:r>
                                <m:r>
                                  <m:rPr>
                                    <m:nor/>
                                  </m:rPr>
                                  <a:rPr lang="el-GR" sz="1000" i="0" dirty="0" smtClean="0"/>
                                  <m:t>α</m:t>
                                </m:r>
                                <m:r>
                                  <a:rPr lang="en-US" sz="999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≤</m:t>
                                </m:r>
                                <m:r>
                                  <a:rPr lang="en-US" sz="999"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r>
                                  <a:rPr lang="en-US" sz="999" b="0" i="0" smtClean="0">
                                    <a:latin typeface="Cambria Math" panose="02040503050406030204" pitchFamily="18" charset="0"/>
                                  </a:rPr>
                                  <m:t>1.0</m:t>
                                </m:r>
                              </m:oMath>
                            </m:oMathPara>
                          </a14:m>
                          <a:endParaRPr lang="en-US" sz="999" dirty="0"/>
                        </a:p>
                      </p:txBody>
                    </p:sp>
                  </mc:Choice>
                  <mc:Fallback xmlns="">
                    <p:sp>
                      <p:nvSpPr>
                        <p:cNvPr id="43" name="TextBox 42">
                          <a:extLst>
                            <a:ext uri="{FF2B5EF4-FFF2-40B4-BE49-F238E27FC236}">
                              <a16:creationId xmlns:a16="http://schemas.microsoft.com/office/drawing/2014/main" id="{F71D505C-FC76-C59E-E2C4-056074DE86E9}"/>
                            </a:ext>
                          </a:extLst>
                        </p:cNvPr>
                        <p:cNvSpPr txBox="1">
                          <a:spLocks noRot="1" noChangeAspect="1" noMove="1" noResize="1" noEditPoints="1" noAdjustHandles="1" noChangeArrowheads="1" noChangeShapeType="1" noTextEdit="1"/>
                        </p:cNvSpPr>
                        <p:nvPr/>
                      </p:nvSpPr>
                      <p:spPr>
                        <a:xfrm>
                          <a:off x="7924228" y="68865"/>
                          <a:ext cx="1275452" cy="246093"/>
                        </a:xfrm>
                        <a:prstGeom prst="rect">
                          <a:avLst/>
                        </a:prstGeom>
                        <a:blipFill>
                          <a:blip r:embed="rId6"/>
                          <a:stretch>
                            <a:fillRect/>
                          </a:stretch>
                        </a:blipFill>
                      </p:spPr>
                      <p:txBody>
                        <a:bodyPr/>
                        <a:lstStyle/>
                        <a:p>
                          <a:r>
                            <a:rPr lang="en-US">
                              <a:noFill/>
                            </a:rPr>
                            <a:t> </a:t>
                          </a:r>
                        </a:p>
                      </p:txBody>
                    </p:sp>
                  </mc:Fallback>
                </mc:AlternateContent>
              </p:grpSp>
            </p:grpSp>
            <p:sp>
              <p:nvSpPr>
                <p:cNvPr id="35" name="Rectangle: Rounded Corners 34">
                  <a:extLst>
                    <a:ext uri="{FF2B5EF4-FFF2-40B4-BE49-F238E27FC236}">
                      <a16:creationId xmlns:a16="http://schemas.microsoft.com/office/drawing/2014/main" id="{251DAAB3-A1A8-02A9-7542-13D33373A8F2}"/>
                    </a:ext>
                  </a:extLst>
                </p:cNvPr>
                <p:cNvSpPr/>
                <p:nvPr/>
              </p:nvSpPr>
              <p:spPr>
                <a:xfrm>
                  <a:off x="8080823" y="1025452"/>
                  <a:ext cx="1174730" cy="230414"/>
                </a:xfrm>
                <a:prstGeom prst="roundRect">
                  <a:avLst/>
                </a:prstGeom>
                <a:solidFill>
                  <a:schemeClr val="bg1">
                    <a:lumMod val="95000"/>
                  </a:schemeClr>
                </a:solidFill>
                <a:ln>
                  <a:solidFill>
                    <a:schemeClr val="bg1">
                      <a:lumMod val="85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373"/>
                </a:p>
              </p:txBody>
            </p:sp>
            <p:sp>
              <p:nvSpPr>
                <p:cNvPr id="36" name="Rectangle: Rounded Corners 35">
                  <a:extLst>
                    <a:ext uri="{FF2B5EF4-FFF2-40B4-BE49-F238E27FC236}">
                      <a16:creationId xmlns:a16="http://schemas.microsoft.com/office/drawing/2014/main" id="{8F2381E4-AEA9-1953-83F0-30A82077700C}"/>
                    </a:ext>
                  </a:extLst>
                </p:cNvPr>
                <p:cNvSpPr/>
                <p:nvPr/>
              </p:nvSpPr>
              <p:spPr>
                <a:xfrm>
                  <a:off x="8087909" y="1696668"/>
                  <a:ext cx="1197235" cy="230414"/>
                </a:xfrm>
                <a:prstGeom prst="roundRect">
                  <a:avLst/>
                </a:prstGeom>
                <a:solidFill>
                  <a:schemeClr val="bg1">
                    <a:lumMod val="95000"/>
                  </a:schemeClr>
                </a:solidFill>
                <a:ln>
                  <a:solidFill>
                    <a:schemeClr val="bg1">
                      <a:lumMod val="85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373"/>
                </a:p>
              </p:txBody>
            </p: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37" name="TextBox 36">
                      <a:extLst>
                        <a:ext uri="{FF2B5EF4-FFF2-40B4-BE49-F238E27FC236}">
                          <a16:creationId xmlns:a16="http://schemas.microsoft.com/office/drawing/2014/main" id="{C582EE43-A696-DD80-EB1A-C8EDFF27AFD7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8235534" y="1012899"/>
                      <a:ext cx="845494" cy="246093"/>
                    </a:xfrm>
                    <a:prstGeom prst="rect">
                      <a:avLst/>
                    </a:prstGeom>
                    <a:noFill/>
                  </p:spPr>
                  <p:txBody>
                    <a:bodyPr wrap="square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>
                            <m:r>
                              <m:rPr>
                                <m:nor/>
                              </m:rPr>
                              <a:rPr lang="el-GR" sz="1000" i="0" dirty="0" smtClean="0"/>
                              <m:t>α</m:t>
                            </m:r>
                            <m:r>
                              <a:rPr lang="en-US" sz="999">
                                <a:latin typeface="Cambria Math" panose="02040503050406030204" pitchFamily="18" charset="0"/>
                              </a:rPr>
                              <m:t>&lt;−0.5</m:t>
                            </m:r>
                          </m:oMath>
                        </m:oMathPara>
                      </a14:m>
                      <a:endParaRPr lang="en-US" sz="999" dirty="0"/>
                    </a:p>
                  </p:txBody>
                </p:sp>
              </mc:Choice>
              <mc:Fallback xmlns="">
                <p:sp>
                  <p:nvSpPr>
                    <p:cNvPr id="37" name="TextBox 36">
                      <a:extLst>
                        <a:ext uri="{FF2B5EF4-FFF2-40B4-BE49-F238E27FC236}">
                          <a16:creationId xmlns:a16="http://schemas.microsoft.com/office/drawing/2014/main" id="{C582EE43-A696-DD80-EB1A-C8EDFF27AFD7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8235534" y="1012899"/>
                      <a:ext cx="845494" cy="246093"/>
                    </a:xfrm>
                    <a:prstGeom prst="rect">
                      <a:avLst/>
                    </a:prstGeom>
                    <a:blipFill>
                      <a:blip r:embed="rId7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38" name="TextBox 37">
                      <a:extLst>
                        <a:ext uri="{FF2B5EF4-FFF2-40B4-BE49-F238E27FC236}">
                          <a16:creationId xmlns:a16="http://schemas.microsoft.com/office/drawing/2014/main" id="{8363DBC1-B3FD-1D34-6A06-F5F80E46C6F2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8302489" y="1695033"/>
                      <a:ext cx="771439" cy="246093"/>
                    </a:xfrm>
                    <a:prstGeom prst="rect">
                      <a:avLst/>
                    </a:prstGeom>
                    <a:noFill/>
                  </p:spPr>
                  <p:txBody>
                    <a:bodyPr wrap="square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>
                            <m:r>
                              <m:rPr>
                                <m:nor/>
                              </m:rPr>
                              <a:rPr lang="el-GR" sz="1000" i="0" dirty="0" smtClean="0"/>
                              <m:t>α</m:t>
                            </m:r>
                            <m:r>
                              <a:rPr lang="en-US" sz="999" i="1">
                                <a:latin typeface="Cambria Math" panose="02040503050406030204" pitchFamily="18" charset="0"/>
                              </a:rPr>
                              <m:t>&gt;</m:t>
                            </m:r>
                            <m:r>
                              <a:rPr lang="en-US" sz="999" b="0" i="1" smtClean="0">
                                <a:latin typeface="Cambria Math" panose="02040503050406030204" pitchFamily="18" charset="0"/>
                              </a:rPr>
                              <m:t>1.0</m:t>
                            </m:r>
                          </m:oMath>
                        </m:oMathPara>
                      </a14:m>
                      <a:endParaRPr lang="en-US" sz="999" dirty="0"/>
                    </a:p>
                  </p:txBody>
                </p:sp>
              </mc:Choice>
              <mc:Fallback xmlns="">
                <p:sp>
                  <p:nvSpPr>
                    <p:cNvPr id="38" name="TextBox 37">
                      <a:extLst>
                        <a:ext uri="{FF2B5EF4-FFF2-40B4-BE49-F238E27FC236}">
                          <a16:creationId xmlns:a16="http://schemas.microsoft.com/office/drawing/2014/main" id="{8363DBC1-B3FD-1D34-6A06-F5F80E46C6F2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8302489" y="1695033"/>
                      <a:ext cx="771439" cy="246093"/>
                    </a:xfrm>
                    <a:prstGeom prst="rect">
                      <a:avLst/>
                    </a:prstGeom>
                    <a:blipFill>
                      <a:blip r:embed="rId8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sp>
              <p:nvSpPr>
                <p:cNvPr id="39" name="TextBox 38">
                  <a:extLst>
                    <a:ext uri="{FF2B5EF4-FFF2-40B4-BE49-F238E27FC236}">
                      <a16:creationId xmlns:a16="http://schemas.microsoft.com/office/drawing/2014/main" id="{8D53BBC0-9DA6-7043-C16B-AB1BBD2602C3}"/>
                    </a:ext>
                  </a:extLst>
                </p:cNvPr>
                <p:cNvSpPr txBox="1"/>
                <p:nvPr/>
              </p:nvSpPr>
              <p:spPr>
                <a:xfrm>
                  <a:off x="9340690" y="1680578"/>
                  <a:ext cx="1197235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sz="1200" dirty="0"/>
                    <a:t>Antagonism</a:t>
                  </a:r>
                </a:p>
              </p:txBody>
            </p:sp>
          </p:grpSp>
        </p:grp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B8C412CA-6F60-4120-B866-A8D7E5790654}"/>
                </a:ext>
              </a:extLst>
            </p:cNvPr>
            <p:cNvSpPr txBox="1"/>
            <p:nvPr/>
          </p:nvSpPr>
          <p:spPr>
            <a:xfrm>
              <a:off x="5625157" y="1679821"/>
              <a:ext cx="1245016" cy="44627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100" dirty="0"/>
                <a:t>Using Loewe </a:t>
              </a:r>
              <a:r>
                <a:rPr lang="el-GR" sz="1100" dirty="0"/>
                <a:t>α </a:t>
              </a:r>
              <a:endParaRPr lang="en-US" sz="1100" dirty="0"/>
            </a:p>
            <a:p>
              <a:pPr algn="ctr"/>
              <a:r>
                <a:rPr lang="en-US" sz="1100" dirty="0"/>
                <a:t>to assign labels</a:t>
              </a:r>
            </a:p>
          </p:txBody>
        </p:sp>
      </p:grpSp>
      <p:sp>
        <p:nvSpPr>
          <p:cNvPr id="46" name="Rectangle: Rounded Corners 45">
            <a:extLst>
              <a:ext uri="{FF2B5EF4-FFF2-40B4-BE49-F238E27FC236}">
                <a16:creationId xmlns:a16="http://schemas.microsoft.com/office/drawing/2014/main" id="{39D7D310-BC25-598A-E298-C6FCE98ED08A}"/>
              </a:ext>
            </a:extLst>
          </p:cNvPr>
          <p:cNvSpPr/>
          <p:nvPr/>
        </p:nvSpPr>
        <p:spPr>
          <a:xfrm>
            <a:off x="2936951" y="947399"/>
            <a:ext cx="2680650" cy="851442"/>
          </a:xfrm>
          <a:prstGeom prst="roundRect">
            <a:avLst/>
          </a:prstGeom>
          <a:solidFill>
            <a:srgbClr val="8DC5C1"/>
          </a:solidFill>
          <a:ln>
            <a:solidFill>
              <a:srgbClr val="8DC5C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73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B1D7E92-9AB1-569B-A80B-8BBB3325C198}"/>
              </a:ext>
            </a:extLst>
          </p:cNvPr>
          <p:cNvSpPr txBox="1"/>
          <p:nvPr/>
        </p:nvSpPr>
        <p:spPr>
          <a:xfrm>
            <a:off x="518545" y="1949581"/>
            <a:ext cx="1586227" cy="26173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1" b="1" dirty="0"/>
              <a:t>Raw</a:t>
            </a:r>
            <a:r>
              <a:rPr lang="en-US" sz="1101" dirty="0"/>
              <a:t> ≈ 171 Drug pairs</a:t>
            </a:r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1802B556-2D83-FD2B-F7F7-658709A92A0C}"/>
              </a:ext>
            </a:extLst>
          </p:cNvPr>
          <p:cNvGrpSpPr/>
          <p:nvPr/>
        </p:nvGrpSpPr>
        <p:grpSpPr>
          <a:xfrm>
            <a:off x="371811" y="773667"/>
            <a:ext cx="1757687" cy="1175914"/>
            <a:chOff x="2095908" y="4304896"/>
            <a:chExt cx="1757687" cy="1175915"/>
          </a:xfrm>
        </p:grpSpPr>
        <p:sp>
          <p:nvSpPr>
            <p:cNvPr id="27" name="Rectangle: Rounded Corners 26">
              <a:extLst>
                <a:ext uri="{FF2B5EF4-FFF2-40B4-BE49-F238E27FC236}">
                  <a16:creationId xmlns:a16="http://schemas.microsoft.com/office/drawing/2014/main" id="{3D894FC8-B667-9FD8-A23E-4CC8BB5AE729}"/>
                </a:ext>
              </a:extLst>
            </p:cNvPr>
            <p:cNvSpPr/>
            <p:nvPr/>
          </p:nvSpPr>
          <p:spPr>
            <a:xfrm>
              <a:off x="2141950" y="4304896"/>
              <a:ext cx="1711645" cy="1175915"/>
            </a:xfrm>
            <a:prstGeom prst="roundRect">
              <a:avLst/>
            </a:prstGeom>
            <a:solidFill>
              <a:srgbClr val="7BAFD4"/>
            </a:solidFill>
            <a:ln>
              <a:solidFill>
                <a:schemeClr val="accent1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373"/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5BC4B862-5D6A-5F70-8396-C0C27563759C}"/>
                </a:ext>
              </a:extLst>
            </p:cNvPr>
            <p:cNvSpPr txBox="1"/>
            <p:nvPr/>
          </p:nvSpPr>
          <p:spPr>
            <a:xfrm>
              <a:off x="2095908" y="4513909"/>
              <a:ext cx="1732961" cy="83099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200" dirty="0"/>
                <a:t>INDIGO dataset</a:t>
              </a:r>
            </a:p>
            <a:p>
              <a:pPr marL="171450" indent="-171450" algn="ctr">
                <a:buFont typeface="Arial" panose="020B0604020202020204" pitchFamily="34" charset="0"/>
                <a:buChar char="•"/>
              </a:pPr>
              <a:r>
                <a:rPr lang="en-US" sz="1200" dirty="0"/>
                <a:t>Checkerboard assay</a:t>
              </a:r>
            </a:p>
            <a:p>
              <a:pPr marL="171450" indent="-171450" algn="ctr">
                <a:buFont typeface="Arial" panose="020B0604020202020204" pitchFamily="34" charset="0"/>
                <a:buChar char="•"/>
              </a:pPr>
              <a:r>
                <a:rPr lang="en-US" sz="1200" dirty="0"/>
                <a:t>Loewe </a:t>
              </a:r>
              <a:r>
                <a:rPr lang="el-GR" sz="1200" dirty="0"/>
                <a:t>α</a:t>
              </a:r>
              <a:r>
                <a:rPr lang="en-US" sz="1200" dirty="0"/>
                <a:t> interaction scores</a:t>
              </a:r>
            </a:p>
          </p:txBody>
        </p:sp>
      </p:grpSp>
      <p:pic>
        <p:nvPicPr>
          <p:cNvPr id="18" name="Graphic 17">
            <a:extLst>
              <a:ext uri="{FF2B5EF4-FFF2-40B4-BE49-F238E27FC236}">
                <a16:creationId xmlns:a16="http://schemas.microsoft.com/office/drawing/2014/main" id="{F2538641-32C3-D44A-E457-AED9E503D71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2208428" y="1136312"/>
            <a:ext cx="314524" cy="387106"/>
          </a:xfrm>
          <a:prstGeom prst="rect">
            <a:avLst/>
          </a:prstGeom>
        </p:spPr>
      </p:pic>
      <p:sp>
        <p:nvSpPr>
          <p:cNvPr id="11" name="Arrow: Right 10">
            <a:extLst>
              <a:ext uri="{FF2B5EF4-FFF2-40B4-BE49-F238E27FC236}">
                <a16:creationId xmlns:a16="http://schemas.microsoft.com/office/drawing/2014/main" id="{739F3084-90D5-8996-3EE3-E63AB31CEBF9}"/>
              </a:ext>
            </a:extLst>
          </p:cNvPr>
          <p:cNvSpPr/>
          <p:nvPr/>
        </p:nvSpPr>
        <p:spPr>
          <a:xfrm>
            <a:off x="2585542" y="1292707"/>
            <a:ext cx="279902" cy="97092"/>
          </a:xfrm>
          <a:prstGeom prst="rightArrow">
            <a:avLst/>
          </a:prstGeom>
          <a:solidFill>
            <a:srgbClr val="1F77B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73"/>
          </a:p>
        </p:txBody>
      </p:sp>
      <p:sp>
        <p:nvSpPr>
          <p:cNvPr id="13" name="Arrow: Right 12">
            <a:extLst>
              <a:ext uri="{FF2B5EF4-FFF2-40B4-BE49-F238E27FC236}">
                <a16:creationId xmlns:a16="http://schemas.microsoft.com/office/drawing/2014/main" id="{6FEA7958-2F7A-024A-E85C-ED3E02323FF3}"/>
              </a:ext>
            </a:extLst>
          </p:cNvPr>
          <p:cNvSpPr/>
          <p:nvPr/>
        </p:nvSpPr>
        <p:spPr>
          <a:xfrm>
            <a:off x="5709800" y="1315894"/>
            <a:ext cx="279902" cy="97092"/>
          </a:xfrm>
          <a:prstGeom prst="rightArrow">
            <a:avLst/>
          </a:prstGeom>
          <a:solidFill>
            <a:srgbClr val="1F77B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73"/>
          </a:p>
        </p:txBody>
      </p:sp>
      <p:sp>
        <p:nvSpPr>
          <p:cNvPr id="14" name="Arrow: Right 13">
            <a:extLst>
              <a:ext uri="{FF2B5EF4-FFF2-40B4-BE49-F238E27FC236}">
                <a16:creationId xmlns:a16="http://schemas.microsoft.com/office/drawing/2014/main" id="{A1E8FDCD-CA9B-1051-A4FF-DAC4FBA0C2E8}"/>
              </a:ext>
            </a:extLst>
          </p:cNvPr>
          <p:cNvSpPr/>
          <p:nvPr/>
        </p:nvSpPr>
        <p:spPr>
          <a:xfrm>
            <a:off x="9753217" y="1364440"/>
            <a:ext cx="279902" cy="97092"/>
          </a:xfrm>
          <a:prstGeom prst="rightArrow">
            <a:avLst/>
          </a:prstGeom>
          <a:solidFill>
            <a:srgbClr val="1F77B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73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23875C3-2AD1-EDCC-82B5-27552A61CB4F}"/>
              </a:ext>
            </a:extLst>
          </p:cNvPr>
          <p:cNvSpPr txBox="1"/>
          <p:nvPr/>
        </p:nvSpPr>
        <p:spPr>
          <a:xfrm>
            <a:off x="2965180" y="1010862"/>
            <a:ext cx="2723928" cy="769441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marL="285793" indent="-285793">
              <a:buFont typeface="Arial" panose="020B0604020202020204" pitchFamily="34" charset="0"/>
              <a:buChar char="•"/>
            </a:pPr>
            <a:r>
              <a:rPr lang="en-US" sz="1100" dirty="0" err="1"/>
              <a:t>Inchikey</a:t>
            </a:r>
            <a:r>
              <a:rPr lang="en-US" sz="1100" dirty="0"/>
              <a:t> mapping</a:t>
            </a:r>
          </a:p>
          <a:p>
            <a:pPr marL="285793" indent="-285793">
              <a:buFont typeface="Arial" panose="020B0604020202020204" pitchFamily="34" charset="0"/>
              <a:buChar char="•"/>
            </a:pPr>
            <a:r>
              <a:rPr lang="en-US" sz="1100" dirty="0"/>
              <a:t>Filter to approved antibacterials</a:t>
            </a:r>
          </a:p>
          <a:p>
            <a:pPr marL="285793" indent="-285793">
              <a:buFont typeface="Arial" panose="020B0604020202020204" pitchFamily="34" charset="0"/>
              <a:buChar char="•"/>
            </a:pPr>
            <a:r>
              <a:rPr lang="en-US" sz="1100" dirty="0"/>
              <a:t>Exclude non-antibacterial compounds</a:t>
            </a:r>
          </a:p>
          <a:p>
            <a:pPr marL="285793" indent="-285793">
              <a:buFont typeface="Arial" panose="020B0604020202020204" pitchFamily="34" charset="0"/>
              <a:buChar char="•"/>
            </a:pPr>
            <a:r>
              <a:rPr lang="en-US" sz="1100" dirty="0"/>
              <a:t>Remove overlapping pairs with HALO’s</a:t>
            </a:r>
            <a:endParaRPr lang="en-US" sz="900" dirty="0"/>
          </a:p>
        </p:txBody>
      </p:sp>
    </p:spTree>
    <p:extLst>
      <p:ext uri="{BB962C8B-B14F-4D97-AF65-F5344CB8AC3E}">
        <p14:creationId xmlns:p14="http://schemas.microsoft.com/office/powerpoint/2010/main" val="222256859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150</TotalTime>
  <Words>66</Words>
  <Application>Microsoft Office PowerPoint</Application>
  <PresentationFormat>Widescreen</PresentationFormat>
  <Paragraphs>18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Arial</vt:lpstr>
      <vt:lpstr>Calibri</vt:lpstr>
      <vt:lpstr>Calibri Light</vt:lpstr>
      <vt:lpstr>Cambria Math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Hannie Yousefabadi</dc:creator>
  <cp:lastModifiedBy>Hannie Yousefabadi</cp:lastModifiedBy>
  <cp:revision>5</cp:revision>
  <dcterms:created xsi:type="dcterms:W3CDTF">2026-01-16T18:53:40Z</dcterms:created>
  <dcterms:modified xsi:type="dcterms:W3CDTF">2026-09-01T15:04:46Z</dcterms:modified>
</cp:coreProperties>
</file>