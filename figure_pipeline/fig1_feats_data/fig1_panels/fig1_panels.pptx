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7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05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676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811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08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C1"/>
    <a:srgbClr val="A7D7A0"/>
    <a:srgbClr val="C7C7C7"/>
    <a:srgbClr val="7BAFD4"/>
    <a:srgbClr val="F4E3A3"/>
    <a:srgbClr val="F28E2B"/>
    <a:srgbClr val="D2A679"/>
    <a:srgbClr val="8C9E5E"/>
    <a:srgbClr val="9467BD"/>
    <a:srgbClr val="2CA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13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>
        <p:guide orient="horz" pos="2161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3F18-0B0B-4B4C-81C3-BEB9DEEB96D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F9D92-BD37-4C6A-A51F-53AB307C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7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405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676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811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08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8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1B.</a:t>
            </a:r>
            <a:r>
              <a:rPr lang="en-US" dirty="0"/>
              <a:t> Dataset overview after curation.</a:t>
            </a:r>
          </a:p>
          <a:p>
            <a:r>
              <a:rPr lang="en-US" b="1" dirty="0"/>
              <a:t>(B)</a:t>
            </a:r>
            <a:r>
              <a:rPr lang="en-US" dirty="0"/>
              <a:t> Bliss score–based interaction statistics. Top left: distribution of Bliss scores across all pair–strain assays. Top right: counts of 3-class Bliss interaction labels (antagonism, neutral, synergy). Bottom left: summary dataset statistics. Bottom right: number of unique drug pairs per strain.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final dataset contained 3,164 unique drug pairs tested across 22 species.</a:t>
            </a:r>
            <a:br>
              <a:rPr lang="en-US" dirty="0"/>
            </a:br>
            <a:r>
              <a:rPr lang="en-US" dirty="0"/>
              <a:t>Histogram shows the continuous distribution of Bliss scores, while the class balance plot demonstrates that synergistic, additive, and antagonistic interactions are not trivially balanced.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b="1" dirty="0"/>
              <a:t>Figure 1B.</a:t>
            </a:r>
            <a:r>
              <a:rPr lang="en-US" dirty="0"/>
              <a:t> Dataset summary after curation.</a:t>
            </a:r>
            <a:br>
              <a:rPr lang="en-US" dirty="0"/>
            </a:br>
            <a:r>
              <a:rPr lang="en-US" dirty="0"/>
              <a:t>The final dataset includes 1,324 unique drug pairs tested across 10 strains (6 species), totaling 3,164 assays.</a:t>
            </a:r>
            <a:br>
              <a:rPr lang="en-US" dirty="0"/>
            </a:br>
            <a:r>
              <a:rPr lang="en-US" dirty="0"/>
              <a:t>The Bliss-score distribution (right) spans −1 to +1 with mean −0.03 ± 0.27, while class proportions (bottom-left) show near-balanced synergy, additivity, and antagonism at ε threshold ±0.12.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4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5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E005-F297-646D-926E-EFDAEB74C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71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2AC80-539A-3C46-7A4D-4FA7B096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67" indent="0" algn="ctr">
              <a:buNone/>
              <a:defRPr sz="2001"/>
            </a:lvl2pPr>
            <a:lvl3pPr marL="914536" indent="0" algn="ctr">
              <a:buNone/>
              <a:defRPr sz="1800"/>
            </a:lvl3pPr>
            <a:lvl4pPr marL="1371800" indent="0" algn="ctr">
              <a:buNone/>
              <a:defRPr sz="1599"/>
            </a:lvl4pPr>
            <a:lvl5pPr marL="1829072" indent="0" algn="ctr">
              <a:buNone/>
              <a:defRPr sz="1599"/>
            </a:lvl5pPr>
            <a:lvl6pPr marL="2286336" indent="0" algn="ctr">
              <a:buNone/>
              <a:defRPr sz="1599"/>
            </a:lvl6pPr>
            <a:lvl7pPr marL="2743605" indent="0" algn="ctr">
              <a:buNone/>
              <a:defRPr sz="1599"/>
            </a:lvl7pPr>
            <a:lvl8pPr marL="3200871" indent="0" algn="ctr">
              <a:buNone/>
              <a:defRPr sz="1599"/>
            </a:lvl8pPr>
            <a:lvl9pPr marL="3658142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DBB-A058-BFB3-CFE6-235710F2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7A28-AEF8-E50B-9703-A3AFB343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0EAF8-0B07-5318-BB61-703D01BB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D25E-009D-77AA-4DED-FEA561A8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9BD8-CCB3-96CC-28D5-1658AF84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A9CD-4268-D796-F8CC-86A64FDD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5E35C-8325-1807-581A-0AA9C774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3D1A-2779-B619-40E3-69D2AA5D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95C2-FB3F-44AA-790E-21945354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6362-FE04-8AEC-4EDE-22C0F113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67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53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0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907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633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3605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20087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814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3430-66EA-9C45-A243-4B05B9E2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B19F-BD28-EC4D-EFB6-6CA4E201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AFF5-B99F-537F-D8AD-7BC890DC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EDA-E266-CE8E-A098-A95BF831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7F22-5822-9F27-8BB5-8DF5B94C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5" y="1825626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809D2-19D1-FD65-036A-E06973D0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5" y="1825626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F6C0E-58F0-7889-2CD9-362A107B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DA67-2F20-325C-1652-F426EB0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2FD8-081F-449E-9BD3-8781E92D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AECA-2612-CBB2-AC19-6B1D9A7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365133"/>
            <a:ext cx="10515600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C6D67-4A58-7491-5D82-A9A9F18D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2" y="168116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67" indent="0">
              <a:buNone/>
              <a:defRPr sz="2001" b="1"/>
            </a:lvl2pPr>
            <a:lvl3pPr marL="914536" indent="0">
              <a:buNone/>
              <a:defRPr sz="1800" b="1"/>
            </a:lvl3pPr>
            <a:lvl4pPr marL="1371800" indent="0">
              <a:buNone/>
              <a:defRPr sz="1599" b="1"/>
            </a:lvl4pPr>
            <a:lvl5pPr marL="1829072" indent="0">
              <a:buNone/>
              <a:defRPr sz="1599" b="1"/>
            </a:lvl5pPr>
            <a:lvl6pPr marL="2286336" indent="0">
              <a:buNone/>
              <a:defRPr sz="1599" b="1"/>
            </a:lvl6pPr>
            <a:lvl7pPr marL="2743605" indent="0">
              <a:buNone/>
              <a:defRPr sz="1599" b="1"/>
            </a:lvl7pPr>
            <a:lvl8pPr marL="3200871" indent="0">
              <a:buNone/>
              <a:defRPr sz="1599" b="1"/>
            </a:lvl8pPr>
            <a:lvl9pPr marL="3658142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B0B51-54D4-00B2-94F8-F45F87485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2" y="2505081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1F84-2B2F-3780-4558-1C8885EC3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5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67" indent="0">
              <a:buNone/>
              <a:defRPr sz="2001" b="1"/>
            </a:lvl2pPr>
            <a:lvl3pPr marL="914536" indent="0">
              <a:buNone/>
              <a:defRPr sz="1800" b="1"/>
            </a:lvl3pPr>
            <a:lvl4pPr marL="1371800" indent="0">
              <a:buNone/>
              <a:defRPr sz="1599" b="1"/>
            </a:lvl4pPr>
            <a:lvl5pPr marL="1829072" indent="0">
              <a:buNone/>
              <a:defRPr sz="1599" b="1"/>
            </a:lvl5pPr>
            <a:lvl6pPr marL="2286336" indent="0">
              <a:buNone/>
              <a:defRPr sz="1599" b="1"/>
            </a:lvl6pPr>
            <a:lvl7pPr marL="2743605" indent="0">
              <a:buNone/>
              <a:defRPr sz="1599" b="1"/>
            </a:lvl7pPr>
            <a:lvl8pPr marL="3200871" indent="0">
              <a:buNone/>
              <a:defRPr sz="1599" b="1"/>
            </a:lvl8pPr>
            <a:lvl9pPr marL="3658142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269B0-AC9C-21B0-63BC-B054D64DB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1"/>
            <a:ext cx="518318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B0E5-922A-7A3C-C9AA-570A5550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E3961-5846-B3AB-7E49-E1E2AA8B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F5C8-594E-E85B-6425-D352CD15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2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5A50-91BC-E4ED-DF7C-95A6A093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97F9-0B5F-B7C8-D3D0-D3F73E6C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59BD3-20CA-0E66-41C7-210BE77E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88DB8-07F0-C459-D086-1B2E531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A851F-05D7-A9E3-473E-6F8D48B0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F0895-07C5-6D15-D645-17975328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33331-99FB-4C2D-BA74-6A67AC5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2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21C9-2A76-3293-7F8A-0635A9E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1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43D-48CC-828B-F99D-186039FF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3" y="987434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BB1AC-2719-B3BD-F7D8-F9147F7D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2"/>
            <a:ext cx="3932237" cy="3811587"/>
          </a:xfrm>
        </p:spPr>
        <p:txBody>
          <a:bodyPr/>
          <a:lstStyle>
            <a:lvl1pPr marL="0" indent="0">
              <a:buNone/>
              <a:defRPr sz="1599"/>
            </a:lvl1pPr>
            <a:lvl2pPr marL="457267" indent="0">
              <a:buNone/>
              <a:defRPr sz="1401"/>
            </a:lvl2pPr>
            <a:lvl3pPr marL="914536" indent="0">
              <a:buNone/>
              <a:defRPr sz="1200"/>
            </a:lvl3pPr>
            <a:lvl4pPr marL="1371800" indent="0">
              <a:buNone/>
              <a:defRPr sz="999"/>
            </a:lvl4pPr>
            <a:lvl5pPr marL="1829072" indent="0">
              <a:buNone/>
              <a:defRPr sz="999"/>
            </a:lvl5pPr>
            <a:lvl6pPr marL="2286336" indent="0">
              <a:buNone/>
              <a:defRPr sz="999"/>
            </a:lvl6pPr>
            <a:lvl7pPr marL="2743605" indent="0">
              <a:buNone/>
              <a:defRPr sz="999"/>
            </a:lvl7pPr>
            <a:lvl8pPr marL="3200871" indent="0">
              <a:buNone/>
              <a:defRPr sz="999"/>
            </a:lvl8pPr>
            <a:lvl9pPr marL="36581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6145B-6FFA-661A-4F3C-7B0D0085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46A2B-BBD6-D7A6-4819-AB51579F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FBE36-FA4D-7035-BD05-D5C04DE4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586-B1D3-9AA8-2290-E7EC042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1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13894-D98F-ABB6-626D-F2A3B9454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3" y="987434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67" indent="0">
              <a:buNone/>
              <a:defRPr sz="2801"/>
            </a:lvl2pPr>
            <a:lvl3pPr marL="914536" indent="0">
              <a:buNone/>
              <a:defRPr sz="2400"/>
            </a:lvl3pPr>
            <a:lvl4pPr marL="1371800" indent="0">
              <a:buNone/>
              <a:defRPr sz="2001"/>
            </a:lvl4pPr>
            <a:lvl5pPr marL="1829072" indent="0">
              <a:buNone/>
              <a:defRPr sz="2001"/>
            </a:lvl5pPr>
            <a:lvl6pPr marL="2286336" indent="0">
              <a:buNone/>
              <a:defRPr sz="2001"/>
            </a:lvl6pPr>
            <a:lvl7pPr marL="2743605" indent="0">
              <a:buNone/>
              <a:defRPr sz="2001"/>
            </a:lvl7pPr>
            <a:lvl8pPr marL="3200871" indent="0">
              <a:buNone/>
              <a:defRPr sz="2001"/>
            </a:lvl8pPr>
            <a:lvl9pPr marL="3658142" indent="0">
              <a:buNone/>
              <a:defRPr sz="2001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9A41-59DF-156C-7BA8-54FFE3274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2"/>
            <a:ext cx="3932237" cy="3811587"/>
          </a:xfrm>
        </p:spPr>
        <p:txBody>
          <a:bodyPr/>
          <a:lstStyle>
            <a:lvl1pPr marL="0" indent="0">
              <a:buNone/>
              <a:defRPr sz="1599"/>
            </a:lvl1pPr>
            <a:lvl2pPr marL="457267" indent="0">
              <a:buNone/>
              <a:defRPr sz="1401"/>
            </a:lvl2pPr>
            <a:lvl3pPr marL="914536" indent="0">
              <a:buNone/>
              <a:defRPr sz="1200"/>
            </a:lvl3pPr>
            <a:lvl4pPr marL="1371800" indent="0">
              <a:buNone/>
              <a:defRPr sz="999"/>
            </a:lvl4pPr>
            <a:lvl5pPr marL="1829072" indent="0">
              <a:buNone/>
              <a:defRPr sz="999"/>
            </a:lvl5pPr>
            <a:lvl6pPr marL="2286336" indent="0">
              <a:buNone/>
              <a:defRPr sz="999"/>
            </a:lvl6pPr>
            <a:lvl7pPr marL="2743605" indent="0">
              <a:buNone/>
              <a:defRPr sz="999"/>
            </a:lvl7pPr>
            <a:lvl8pPr marL="3200871" indent="0">
              <a:buNone/>
              <a:defRPr sz="999"/>
            </a:lvl8pPr>
            <a:lvl9pPr marL="36581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6280-3410-2FCF-3790-48B23A0B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C5FA-C200-0E3A-9FFA-A05DDC9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0ECAE-18B6-5717-9308-F176C443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4530-0955-3AC2-600F-01475281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2FB8B-6657-DCD0-30CE-FBD6CF0E7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F223-EA60-CB27-F499-8B6F51D3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CF33-D219-B4AE-CE7F-95FD1D79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5145D-D917-7DCD-E3F4-2C6CC9C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4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1F4EE-C482-5C8E-2FFB-4576D3BC2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70F5-CE28-4D41-F855-0834C2C6F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DFC6-D7D4-E1FD-EDD1-70E42581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5C76A-5AB7-A2B0-0D6F-53EB3CB5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287C8-7376-0175-7889-CA3419E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51DD8-674B-9C28-3F07-81F06FAC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33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A6E2-B2EB-1588-8759-C50223F9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3759-00DA-ADF8-05FD-967629D4B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8D3E2-249C-484A-821A-68E36AE5606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7038-0616-8CE7-E616-40CD2F3D4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FD96-DF5C-05D5-6011-70F7BF69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53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33" indent="-228633" algn="l" defTabSz="91453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0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67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439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70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970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239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505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7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67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36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00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72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336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605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71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142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B97B143-1D3B-7DD4-A359-6A3B02607CB3}"/>
              </a:ext>
            </a:extLst>
          </p:cNvPr>
          <p:cNvGrpSpPr/>
          <p:nvPr/>
        </p:nvGrpSpPr>
        <p:grpSpPr>
          <a:xfrm>
            <a:off x="318411" y="180628"/>
            <a:ext cx="11731829" cy="2309180"/>
            <a:chOff x="318411" y="180628"/>
            <a:chExt cx="11731829" cy="230918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5D61D59-1133-91D1-24EB-DE631A79B9FB}"/>
                </a:ext>
              </a:extLst>
            </p:cNvPr>
            <p:cNvSpPr txBox="1"/>
            <p:nvPr/>
          </p:nvSpPr>
          <p:spPr>
            <a:xfrm>
              <a:off x="327389" y="180628"/>
              <a:ext cx="5484700" cy="40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1" b="1" dirty="0"/>
                <a:t>A. </a:t>
              </a:r>
              <a:r>
                <a:rPr lang="en-US" sz="2000" dirty="0"/>
                <a:t>Data preprocessing and curation workflow</a:t>
              </a:r>
              <a:endParaRPr lang="en-US" sz="2001" dirty="0"/>
            </a:p>
          </p:txBody>
        </p:sp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51630B3F-16EE-1BEA-60F0-2FBB00E69145}"/>
                </a:ext>
              </a:extLst>
            </p:cNvPr>
            <p:cNvSpPr/>
            <p:nvPr/>
          </p:nvSpPr>
          <p:spPr>
            <a:xfrm>
              <a:off x="2805185" y="909779"/>
              <a:ext cx="2680650" cy="1049731"/>
            </a:xfrm>
            <a:prstGeom prst="roundRect">
              <a:avLst/>
            </a:prstGeom>
            <a:solidFill>
              <a:srgbClr val="8DC5C1"/>
            </a:solidFill>
            <a:ln>
              <a:solidFill>
                <a:srgbClr val="8DC5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458EF534-13BA-A42E-86DE-D6084AD9EBAD}"/>
                </a:ext>
              </a:extLst>
            </p:cNvPr>
            <p:cNvSpPr txBox="1"/>
            <p:nvPr/>
          </p:nvSpPr>
          <p:spPr>
            <a:xfrm>
              <a:off x="2867140" y="1062436"/>
              <a:ext cx="2615697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93" indent="-285793">
                <a:buFont typeface="Arial" panose="020B0604020202020204" pitchFamily="34" charset="0"/>
                <a:buChar char="•"/>
              </a:pPr>
              <a:r>
                <a:rPr lang="en-US" sz="1100" dirty="0" err="1"/>
                <a:t>Inchikey</a:t>
              </a:r>
              <a:r>
                <a:rPr lang="en-US" sz="1100" dirty="0"/>
                <a:t> mapping</a:t>
              </a:r>
            </a:p>
            <a:p>
              <a:pPr marL="285793" indent="-285793">
                <a:buFont typeface="Arial" panose="020B0604020202020204" pitchFamily="34" charset="0"/>
                <a:buChar char="•"/>
              </a:pPr>
              <a:r>
                <a:rPr lang="en-US" sz="1100" dirty="0"/>
                <a:t>Filter to approved antibacterials</a:t>
              </a:r>
            </a:p>
            <a:p>
              <a:pPr marL="285793" indent="-285793">
                <a:buFont typeface="Arial" panose="020B0604020202020204" pitchFamily="34" charset="0"/>
                <a:buChar char="•"/>
              </a:pPr>
              <a:r>
                <a:rPr lang="en-US" sz="1100" dirty="0"/>
                <a:t>Exclude non-antibacterial compounds</a:t>
              </a:r>
            </a:p>
            <a:p>
              <a:pPr marL="285793" indent="-285793">
                <a:buFont typeface="Arial" panose="020B0604020202020204" pitchFamily="34" charset="0"/>
                <a:buChar char="•"/>
              </a:pPr>
              <a:r>
                <a:rPr lang="en-US" sz="1100" dirty="0"/>
                <a:t>Handle inconsistencies</a:t>
              </a:r>
              <a:endParaRPr lang="en-US" sz="9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5AA929-5684-D9F8-4FAA-92D181A4EA1B}"/>
                </a:ext>
              </a:extLst>
            </p:cNvPr>
            <p:cNvGrpSpPr/>
            <p:nvPr/>
          </p:nvGrpSpPr>
          <p:grpSpPr>
            <a:xfrm>
              <a:off x="10146436" y="901708"/>
              <a:ext cx="1903804" cy="977846"/>
              <a:chOff x="4598924" y="4776369"/>
              <a:chExt cx="2947288" cy="1062282"/>
            </a:xfrm>
          </p:grpSpPr>
          <p:sp>
            <p:nvSpPr>
              <p:cNvPr id="327" name="Rectangle: Rounded Corners 326">
                <a:extLst>
                  <a:ext uri="{FF2B5EF4-FFF2-40B4-BE49-F238E27FC236}">
                    <a16:creationId xmlns:a16="http://schemas.microsoft.com/office/drawing/2014/main" id="{0E32046F-4BA9-3597-2779-6773B423BEDE}"/>
                  </a:ext>
                </a:extLst>
              </p:cNvPr>
              <p:cNvSpPr/>
              <p:nvPr/>
            </p:nvSpPr>
            <p:spPr>
              <a:xfrm>
                <a:off x="4598924" y="4776369"/>
                <a:ext cx="2935575" cy="1062282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 dirty="0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2FAC123-E30F-4844-26B1-55A8507F57E9}"/>
                  </a:ext>
                </a:extLst>
              </p:cNvPr>
              <p:cNvSpPr txBox="1"/>
              <p:nvPr/>
            </p:nvSpPr>
            <p:spPr>
              <a:xfrm>
                <a:off x="4610637" y="4950976"/>
                <a:ext cx="2935575" cy="651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Final DF – 3,160 drug pair-strain instances</a:t>
                </a:r>
                <a:br>
                  <a:rPr lang="en-US" sz="1100" dirty="0"/>
                </a:br>
                <a:r>
                  <a:rPr lang="en-US" sz="1100" dirty="0"/>
                  <a:t> 97 antibacterials | 10 strains</a:t>
                </a:r>
              </a:p>
            </p:txBody>
          </p:sp>
        </p:grpSp>
        <p:pic>
          <p:nvPicPr>
            <p:cNvPr id="340" name="Graphic 339">
              <a:extLst>
                <a:ext uri="{FF2B5EF4-FFF2-40B4-BE49-F238E27FC236}">
                  <a16:creationId xmlns:a16="http://schemas.microsoft.com/office/drawing/2014/main" id="{6EBE50FD-B912-D105-C5BB-051989469D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99247" y="1718908"/>
              <a:ext cx="261050" cy="321292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3C9243F-457C-A49E-55F8-5190A456A118}"/>
                </a:ext>
              </a:extLst>
            </p:cNvPr>
            <p:cNvGrpSpPr/>
            <p:nvPr/>
          </p:nvGrpSpPr>
          <p:grpSpPr>
            <a:xfrm>
              <a:off x="5812089" y="958765"/>
              <a:ext cx="4333865" cy="954740"/>
              <a:chOff x="5572310" y="1420666"/>
              <a:chExt cx="4333865" cy="954740"/>
            </a:xfrm>
          </p:grpSpPr>
          <p:grpSp>
            <p:nvGrpSpPr>
              <p:cNvPr id="2439" name="Group 2438">
                <a:extLst>
                  <a:ext uri="{FF2B5EF4-FFF2-40B4-BE49-F238E27FC236}">
                    <a16:creationId xmlns:a16="http://schemas.microsoft.com/office/drawing/2014/main" id="{F1899704-BD3B-1B9D-C2A0-BE1A46C0C113}"/>
                  </a:ext>
                </a:extLst>
              </p:cNvPr>
              <p:cNvGrpSpPr/>
              <p:nvPr/>
            </p:nvGrpSpPr>
            <p:grpSpPr>
              <a:xfrm>
                <a:off x="6754672" y="1420666"/>
                <a:ext cx="3151503" cy="954740"/>
                <a:chOff x="7393507" y="1002837"/>
                <a:chExt cx="3151503" cy="954740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FC465A3B-4E7C-3193-D947-3B3177B33F01}"/>
                    </a:ext>
                  </a:extLst>
                </p:cNvPr>
                <p:cNvSpPr txBox="1"/>
                <p:nvPr/>
              </p:nvSpPr>
              <p:spPr>
                <a:xfrm>
                  <a:off x="9328603" y="1020533"/>
                  <a:ext cx="108578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Synergy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D5040FE-3709-529E-A304-BC36B972A56C}"/>
                    </a:ext>
                  </a:extLst>
                </p:cNvPr>
                <p:cNvSpPr txBox="1"/>
                <p:nvPr/>
              </p:nvSpPr>
              <p:spPr>
                <a:xfrm>
                  <a:off x="9340689" y="1368222"/>
                  <a:ext cx="1204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Additivity </a:t>
                  </a:r>
                </a:p>
              </p:txBody>
            </p:sp>
            <p:grpSp>
              <p:nvGrpSpPr>
                <p:cNvPr id="2434" name="Group 2433">
                  <a:extLst>
                    <a:ext uri="{FF2B5EF4-FFF2-40B4-BE49-F238E27FC236}">
                      <a16:creationId xmlns:a16="http://schemas.microsoft.com/office/drawing/2014/main" id="{B6539923-519E-B746-063B-1621EEBB6474}"/>
                    </a:ext>
                  </a:extLst>
                </p:cNvPr>
                <p:cNvGrpSpPr/>
                <p:nvPr/>
              </p:nvGrpSpPr>
              <p:grpSpPr>
                <a:xfrm>
                  <a:off x="7393507" y="1002837"/>
                  <a:ext cx="3144418" cy="954740"/>
                  <a:chOff x="7393507" y="1002837"/>
                  <a:chExt cx="3144418" cy="954740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88ED163B-6E60-8CD3-6C14-F2AA7168AD7E}"/>
                      </a:ext>
                    </a:extLst>
                  </p:cNvPr>
                  <p:cNvGrpSpPr/>
                  <p:nvPr/>
                </p:nvGrpSpPr>
                <p:grpSpPr>
                  <a:xfrm>
                    <a:off x="7393507" y="1085914"/>
                    <a:ext cx="1921092" cy="810631"/>
                    <a:chOff x="7413954" y="1077600"/>
                    <a:chExt cx="1921092" cy="810631"/>
                  </a:xfrm>
                </p:grpSpPr>
                <p:pic>
                  <p:nvPicPr>
                    <p:cNvPr id="129" name="Graphic 128">
                      <a:extLst>
                        <a:ext uri="{FF2B5EF4-FFF2-40B4-BE49-F238E27FC236}">
                          <a16:creationId xmlns:a16="http://schemas.microsoft.com/office/drawing/2014/main" id="{B8C3A1C6-B639-CFDC-9F79-FEF8B8F856B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413954" y="1077600"/>
                      <a:ext cx="668312" cy="810631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CAE0723B-9422-2438-35CC-20EF36FC2E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59594" y="1355196"/>
                      <a:ext cx="1275452" cy="255762"/>
                      <a:chOff x="7924228" y="59196"/>
                      <a:chExt cx="1275452" cy="255762"/>
                    </a:xfrm>
                  </p:grpSpPr>
                  <p:sp>
                    <p:nvSpPr>
                      <p:cNvPr id="2475" name="Rectangle: Rounded Corners 2474">
                        <a:extLst>
                          <a:ext uri="{FF2B5EF4-FFF2-40B4-BE49-F238E27FC236}">
                            <a16:creationId xmlns:a16="http://schemas.microsoft.com/office/drawing/2014/main" id="{E64AE3E8-92EF-015B-6560-426CDD6D13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5904" y="59196"/>
                        <a:ext cx="1204321" cy="230414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73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477" name="TextBox 2476">
                            <a:extLst>
                              <a:ext uri="{FF2B5EF4-FFF2-40B4-BE49-F238E27FC236}">
                                <a16:creationId xmlns:a16="http://schemas.microsoft.com/office/drawing/2014/main" id="{F6B03B45-ADA2-07C1-87C1-12A49D48ACA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924228" y="68865"/>
                            <a:ext cx="1275452" cy="246093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sz="999" smtClean="0">
                                      <a:latin typeface="Cambria Math" panose="02040503050406030204" pitchFamily="18" charset="0"/>
                                    </a:rPr>
                                    <m:t>−0.</m:t>
                                  </m:r>
                                  <m:r>
                                    <a:rPr lang="en-US" sz="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99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l-GR" sz="999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sz="999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999">
                                      <a:latin typeface="Cambria Math" panose="02040503050406030204" pitchFamily="18" charset="0"/>
                                    </a:rPr>
                                    <m:t>+0.</m:t>
                                  </m:r>
                                  <m:r>
                                    <a:rPr lang="en-US" sz="999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sz="999" b="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477" name="TextBox 2476">
                            <a:extLst>
                              <a:ext uri="{FF2B5EF4-FFF2-40B4-BE49-F238E27FC236}">
                                <a16:creationId xmlns:a16="http://schemas.microsoft.com/office/drawing/2014/main" id="{F6B03B45-ADA2-07C1-87C1-12A49D48ACAD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924228" y="68865"/>
                            <a:ext cx="1275452" cy="246093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B7D0B962-4D39-BDE6-189B-02C3A92F74FD}"/>
                      </a:ext>
                    </a:extLst>
                  </p:cNvPr>
                  <p:cNvSpPr/>
                  <p:nvPr/>
                </p:nvSpPr>
                <p:spPr>
                  <a:xfrm>
                    <a:off x="8080823" y="1025452"/>
                    <a:ext cx="1174730" cy="230414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1" name="Rectangle: Rounded Corners 20">
                    <a:extLst>
                      <a:ext uri="{FF2B5EF4-FFF2-40B4-BE49-F238E27FC236}">
                        <a16:creationId xmlns:a16="http://schemas.microsoft.com/office/drawing/2014/main" id="{1AAEE15E-0C96-E3F9-46F3-21507A491856}"/>
                      </a:ext>
                    </a:extLst>
                  </p:cNvPr>
                  <p:cNvSpPr/>
                  <p:nvPr/>
                </p:nvSpPr>
                <p:spPr>
                  <a:xfrm>
                    <a:off x="8087909" y="1696668"/>
                    <a:ext cx="1197235" cy="230414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078F5497-CCC0-C028-1E7D-10BF701F01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98643" y="1002837"/>
                        <a:ext cx="635732" cy="24609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r>
                              <a:rPr lang="el-GR" sz="999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sz="999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999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oMath>
                        </a14:m>
                        <a:r>
                          <a:rPr lang="en-US" sz="999" dirty="0"/>
                          <a:t>0.1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078F5497-CCC0-C028-1E7D-10BF701F01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98643" y="1002837"/>
                        <a:ext cx="635732" cy="246093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463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E9FDD3A5-05E0-30B2-476D-A2871470F05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00806" y="1677627"/>
                        <a:ext cx="771439" cy="24609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sz="999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999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999" i="1">
                                  <a:latin typeface="Cambria Math" panose="02040503050406030204" pitchFamily="18" charset="0"/>
                                </a:rPr>
                                <m:t>&gt;+0</m:t>
                              </m:r>
                              <m:r>
                                <a:rPr lang="en-US" sz="999" b="0" i="1" smtClean="0"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</m:oMath>
                          </m:oMathPara>
                        </a14:m>
                        <a:endParaRPr lang="en-US" sz="999" b="0" dirty="0"/>
                      </a:p>
                    </p:txBody>
                  </p:sp>
                </mc:Choice>
                <mc:Fallback xmlns="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E9FDD3A5-05E0-30B2-476D-A2871470F05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00806" y="1677627"/>
                        <a:ext cx="771439" cy="246093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136CA334-BC61-8B0B-9683-0BBFF1963A16}"/>
                      </a:ext>
                    </a:extLst>
                  </p:cNvPr>
                  <p:cNvSpPr txBox="1"/>
                  <p:nvPr/>
                </p:nvSpPr>
                <p:spPr>
                  <a:xfrm>
                    <a:off x="9340690" y="1680578"/>
                    <a:ext cx="119723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Antagonism</a:t>
                    </a: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6" name="TextBox 2445">
                    <a:extLst>
                      <a:ext uri="{FF2B5EF4-FFF2-40B4-BE49-F238E27FC236}">
                        <a16:creationId xmlns:a16="http://schemas.microsoft.com/office/drawing/2014/main" id="{A873D738-3F08-8CAB-1840-38E6BBD93378}"/>
                      </a:ext>
                    </a:extLst>
                  </p:cNvPr>
                  <p:cNvSpPr txBox="1"/>
                  <p:nvPr/>
                </p:nvSpPr>
                <p:spPr>
                  <a:xfrm>
                    <a:off x="5572310" y="1599055"/>
                    <a:ext cx="1245016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/>
                      <a:t>Using Bliss independent</a:t>
                    </a:r>
                  </a:p>
                  <a:p>
                    <a:pPr algn="ctr"/>
                    <a:r>
                      <a:rPr lang="en-US" sz="1100" dirty="0"/>
                      <a:t> score (</a:t>
                    </a:r>
                    <a14:m>
                      <m:oMath xmlns:m="http://schemas.openxmlformats.org/officeDocument/2006/math">
                        <m:r>
                          <a:rPr lang="el-GR" sz="1100" i="1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a14:m>
                    <a:r>
                      <a:rPr lang="en-US" sz="1100" dirty="0"/>
                      <a:t>) to assign labels</a:t>
                    </a:r>
                  </a:p>
                </p:txBody>
              </p:sp>
            </mc:Choice>
            <mc:Fallback xmlns="">
              <p:sp>
                <p:nvSpPr>
                  <p:cNvPr id="2446" name="TextBox 2445">
                    <a:extLst>
                      <a:ext uri="{FF2B5EF4-FFF2-40B4-BE49-F238E27FC236}">
                        <a16:creationId xmlns:a16="http://schemas.microsoft.com/office/drawing/2014/main" id="{A873D738-3F08-8CAB-1840-38E6BBD933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2310" y="1599055"/>
                    <a:ext cx="1245016" cy="76944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787" r="-1463" b="-3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3E2E19D-C816-2164-E5D5-2D21AB20B8D9}"/>
                </a:ext>
              </a:extLst>
            </p:cNvPr>
            <p:cNvGrpSpPr/>
            <p:nvPr/>
          </p:nvGrpSpPr>
          <p:grpSpPr>
            <a:xfrm>
              <a:off x="318411" y="617299"/>
              <a:ext cx="1945490" cy="1872509"/>
              <a:chOff x="318394" y="862446"/>
              <a:chExt cx="1945490" cy="1872510"/>
            </a:xfrm>
          </p:grpSpPr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96B10B2-1864-DE0B-815F-D9EA89DB9FFB}"/>
                  </a:ext>
                </a:extLst>
              </p:cNvPr>
              <p:cNvSpPr txBox="1"/>
              <p:nvPr/>
            </p:nvSpPr>
            <p:spPr>
              <a:xfrm>
                <a:off x="318394" y="2473218"/>
                <a:ext cx="1586227" cy="26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1" b="1" dirty="0"/>
                  <a:t>Raw</a:t>
                </a:r>
                <a:r>
                  <a:rPr lang="en-US" sz="1101" dirty="0"/>
                  <a:t> ≈ 13,854 rows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62AF46C-55A5-901C-50F3-6FBC8964BB45}"/>
                  </a:ext>
                </a:extLst>
              </p:cNvPr>
              <p:cNvGrpSpPr/>
              <p:nvPr/>
            </p:nvGrpSpPr>
            <p:grpSpPr>
              <a:xfrm>
                <a:off x="372044" y="862446"/>
                <a:ext cx="1520604" cy="461665"/>
                <a:chOff x="2141951" y="4304894"/>
                <a:chExt cx="1520604" cy="461665"/>
              </a:xfrm>
            </p:grpSpPr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EE8D9196-0629-A9A5-735D-73FDF57F9E9C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F8734AF9-25D3-A256-2FD8-F656882D8294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Brochado</a:t>
                  </a:r>
                </a:p>
                <a:p>
                  <a:pPr algn="ctr"/>
                  <a:r>
                    <a:rPr lang="en-US" sz="1200" dirty="0"/>
                    <a:t>(HTS)</a:t>
                  </a:r>
                </a:p>
              </p:txBody>
            </p:sp>
          </p:grpSp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3AE1D97-2836-2F2D-F7E5-A21B17C22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49360" y="923300"/>
                <a:ext cx="314524" cy="387106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78856B7-A898-1FB6-805B-0B1DDDA447AC}"/>
                  </a:ext>
                </a:extLst>
              </p:cNvPr>
              <p:cNvGrpSpPr/>
              <p:nvPr/>
            </p:nvGrpSpPr>
            <p:grpSpPr>
              <a:xfrm>
                <a:off x="361625" y="1442932"/>
                <a:ext cx="1520604" cy="461665"/>
                <a:chOff x="2141951" y="4304894"/>
                <a:chExt cx="1520604" cy="461665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093FE054-C813-0B93-D9FB-43AD344335A6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2B475C8-DD4D-EBE4-FC6F-7BFCC54DDA5D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Cacace</a:t>
                  </a:r>
                </a:p>
                <a:p>
                  <a:pPr algn="ctr"/>
                  <a:r>
                    <a:rPr lang="en-US" sz="1200" dirty="0"/>
                    <a:t>(HTS)</a:t>
                  </a:r>
                </a:p>
              </p:txBody>
            </p:sp>
          </p:grp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399D1FD9-B207-F151-DD72-9AD0F572A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49360" y="1501254"/>
                <a:ext cx="314524" cy="387106"/>
              </a:xfrm>
              <a:prstGeom prst="rect">
                <a:avLst/>
              </a:prstGeom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BCBFEB5-3036-EE9F-9450-AF3985B58509}"/>
                  </a:ext>
                </a:extLst>
              </p:cNvPr>
              <p:cNvGrpSpPr/>
              <p:nvPr/>
            </p:nvGrpSpPr>
            <p:grpSpPr>
              <a:xfrm>
                <a:off x="351206" y="2011553"/>
                <a:ext cx="1520604" cy="461665"/>
                <a:chOff x="2141951" y="4304894"/>
                <a:chExt cx="1520604" cy="461665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DC3C8883-C305-8560-1F92-B0C03FF2BBFF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41CE8E-2D11-E757-9CE8-008AA37FBC66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ACDB database</a:t>
                  </a:r>
                </a:p>
                <a:p>
                  <a:pPr algn="ctr"/>
                  <a:r>
                    <a:rPr lang="en-US" sz="1200" dirty="0"/>
                    <a:t>(literature-based)</a:t>
                  </a:r>
                </a:p>
              </p:txBody>
            </p:sp>
          </p:grpSp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47BCDB63-7BE5-340C-5AAD-2F17444F5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49360" y="2041563"/>
                <a:ext cx="314524" cy="387106"/>
              </a:xfrm>
              <a:prstGeom prst="rect">
                <a:avLst/>
              </a:prstGeom>
            </p:spPr>
          </p:pic>
        </p:grp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676FCC42-70BF-6021-23FF-5D9ED469281A}"/>
                </a:ext>
              </a:extLst>
            </p:cNvPr>
            <p:cNvSpPr/>
            <p:nvPr/>
          </p:nvSpPr>
          <p:spPr>
            <a:xfrm>
              <a:off x="2370368" y="853162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94EE7E08-D9EC-5EDC-5FEB-3D5EC6A00EBD}"/>
                </a:ext>
              </a:extLst>
            </p:cNvPr>
            <p:cNvSpPr/>
            <p:nvPr/>
          </p:nvSpPr>
          <p:spPr>
            <a:xfrm>
              <a:off x="2396415" y="1369199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17C5BB70-D0A4-22CF-1EF8-21973425A803}"/>
                </a:ext>
              </a:extLst>
            </p:cNvPr>
            <p:cNvSpPr/>
            <p:nvPr/>
          </p:nvSpPr>
          <p:spPr>
            <a:xfrm>
              <a:off x="5589286" y="1398611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B4DBF79D-A261-3FD0-BC49-60E2F7E590D2}"/>
                </a:ext>
              </a:extLst>
            </p:cNvPr>
            <p:cNvSpPr/>
            <p:nvPr/>
          </p:nvSpPr>
          <p:spPr>
            <a:xfrm>
              <a:off x="9753217" y="1364440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E97C2690-5C42-1DC7-5580-D8B3D587871D}"/>
                </a:ext>
              </a:extLst>
            </p:cNvPr>
            <p:cNvSpPr/>
            <p:nvPr/>
          </p:nvSpPr>
          <p:spPr>
            <a:xfrm>
              <a:off x="2395766" y="1885875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</p:grpSp>
    </p:spTree>
    <p:extLst>
      <p:ext uri="{BB962C8B-B14F-4D97-AF65-F5344CB8AC3E}">
        <p14:creationId xmlns:p14="http://schemas.microsoft.com/office/powerpoint/2010/main" val="160543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CB0B871-F1E4-70DB-B621-4043CD54C325}"/>
              </a:ext>
            </a:extLst>
          </p:cNvPr>
          <p:cNvGrpSpPr/>
          <p:nvPr/>
        </p:nvGrpSpPr>
        <p:grpSpPr>
          <a:xfrm>
            <a:off x="290350" y="116912"/>
            <a:ext cx="5805650" cy="4905719"/>
            <a:chOff x="290350" y="116912"/>
            <a:chExt cx="5805650" cy="49057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97CBFD-DF31-E0E2-72E1-38C29E101010}"/>
                </a:ext>
              </a:extLst>
            </p:cNvPr>
            <p:cNvGrpSpPr/>
            <p:nvPr/>
          </p:nvGrpSpPr>
          <p:grpSpPr>
            <a:xfrm>
              <a:off x="290350" y="116912"/>
              <a:ext cx="5805650" cy="4905719"/>
              <a:chOff x="233408" y="131319"/>
              <a:chExt cx="5805650" cy="490571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7D251B-55DC-AD70-436B-EFF350855F33}"/>
                  </a:ext>
                </a:extLst>
              </p:cNvPr>
              <p:cNvSpPr txBox="1"/>
              <p:nvPr/>
            </p:nvSpPr>
            <p:spPr>
              <a:xfrm>
                <a:off x="233408" y="131319"/>
                <a:ext cx="4776387" cy="40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1" b="1" dirty="0"/>
                  <a:t>B.</a:t>
                </a:r>
                <a:r>
                  <a:rPr lang="en-US" sz="2001" dirty="0"/>
                  <a:t> </a:t>
                </a:r>
                <a:r>
                  <a:rPr lang="en-US" sz="2000" dirty="0"/>
                  <a:t>Dataset statistics after curation</a:t>
                </a:r>
                <a:endParaRPr lang="en-US" sz="2001" dirty="0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E0E4C18A-7810-E3F8-6A0C-AB6975949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6127" y="3075243"/>
                <a:ext cx="3032931" cy="1961795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A24ADD-371B-0558-423F-D23A88BB5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2" r="30"/>
            <a:stretch>
              <a:fillRect/>
            </a:stretch>
          </p:blipFill>
          <p:spPr>
            <a:xfrm>
              <a:off x="344633" y="3068041"/>
              <a:ext cx="2647906" cy="194738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89CA27-D6F3-561B-7778-947FC7FC9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86"/>
            <a:stretch>
              <a:fillRect/>
            </a:stretch>
          </p:blipFill>
          <p:spPr>
            <a:xfrm>
              <a:off x="344633" y="585601"/>
              <a:ext cx="2506847" cy="241398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B35BEF6-7D9B-927A-9516-4609EE82A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78" y="704981"/>
            <a:ext cx="3322711" cy="217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3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C066DC15-4D2B-6C2D-3DEB-D893F4624518}"/>
              </a:ext>
            </a:extLst>
          </p:cNvPr>
          <p:cNvGrpSpPr/>
          <p:nvPr/>
        </p:nvGrpSpPr>
        <p:grpSpPr>
          <a:xfrm>
            <a:off x="71392" y="131934"/>
            <a:ext cx="6599282" cy="5033791"/>
            <a:chOff x="71392" y="131934"/>
            <a:chExt cx="6599282" cy="503379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619328-BE17-31EA-78AE-92DE6C172239}"/>
                </a:ext>
              </a:extLst>
            </p:cNvPr>
            <p:cNvSpPr txBox="1"/>
            <p:nvPr/>
          </p:nvSpPr>
          <p:spPr>
            <a:xfrm>
              <a:off x="71392" y="131934"/>
              <a:ext cx="6548393" cy="40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1" b="1" dirty="0"/>
                <a:t>C.</a:t>
              </a:r>
              <a:r>
                <a:rPr lang="en-US" sz="2001" dirty="0"/>
                <a:t> </a:t>
              </a:r>
              <a:r>
                <a:rPr lang="en-US" sz="2000" dirty="0"/>
                <a:t>Input features from Chemical Checker embeddings</a:t>
              </a:r>
              <a:endParaRPr lang="en-US" sz="2001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A6E388C-97DA-62F2-B492-8D368F5FFF32}"/>
                </a:ext>
              </a:extLst>
            </p:cNvPr>
            <p:cNvGrpSpPr/>
            <p:nvPr/>
          </p:nvGrpSpPr>
          <p:grpSpPr>
            <a:xfrm>
              <a:off x="453482" y="799100"/>
              <a:ext cx="6217192" cy="4366625"/>
              <a:chOff x="453482" y="799100"/>
              <a:chExt cx="6217192" cy="4366625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D83A4B-13B8-4820-CCFD-1EAF2C69C2F7}"/>
                  </a:ext>
                </a:extLst>
              </p:cNvPr>
              <p:cNvSpPr txBox="1"/>
              <p:nvPr/>
            </p:nvSpPr>
            <p:spPr>
              <a:xfrm>
                <a:off x="1216306" y="1381637"/>
                <a:ext cx="22542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Chemical Checker </a:t>
                </a:r>
              </a:p>
              <a:p>
                <a:pPr algn="ctr"/>
                <a:r>
                  <a:rPr lang="en-US" sz="1200" b="1" dirty="0"/>
                  <a:t>embeddings</a:t>
                </a:r>
                <a:endParaRPr lang="en-US" sz="12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786CED-E485-C5B3-DC75-B181F0DDABEB}"/>
                  </a:ext>
                </a:extLst>
              </p:cNvPr>
              <p:cNvSpPr txBox="1"/>
              <p:nvPr/>
            </p:nvSpPr>
            <p:spPr>
              <a:xfrm>
                <a:off x="4213825" y="2263080"/>
                <a:ext cx="1995572" cy="1108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1" b="1" dirty="0"/>
                  <a:t>For each drug: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Each level → 128D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Full CC: 25 × 128 = 3200D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S-space 128D vector (strain embedding); Used only in some model variants</a:t>
                </a:r>
              </a:p>
            </p:txBody>
          </p:sp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820CDAE2-2FFE-865A-EEA7-002A457D4CED}"/>
                  </a:ext>
                </a:extLst>
              </p:cNvPr>
              <p:cNvGrpSpPr/>
              <p:nvPr/>
            </p:nvGrpSpPr>
            <p:grpSpPr>
              <a:xfrm>
                <a:off x="709506" y="820395"/>
                <a:ext cx="1271834" cy="1001748"/>
                <a:chOff x="1578854" y="907849"/>
                <a:chExt cx="1271834" cy="1001747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90E8156-AC3B-3DCC-8F9F-632B4264A024}"/>
                    </a:ext>
                  </a:extLst>
                </p:cNvPr>
                <p:cNvSpPr txBox="1"/>
                <p:nvPr/>
              </p:nvSpPr>
              <p:spPr>
                <a:xfrm>
                  <a:off x="1578854" y="1156250"/>
                  <a:ext cx="12718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A</a:t>
                  </a:r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464FFE10-BC9E-3E5C-7174-BCAB5AD83F1B}"/>
                    </a:ext>
                  </a:extLst>
                </p:cNvPr>
                <p:cNvGrpSpPr/>
                <p:nvPr/>
              </p:nvGrpSpPr>
              <p:grpSpPr>
                <a:xfrm>
                  <a:off x="1849614" y="1462878"/>
                  <a:ext cx="640225" cy="446718"/>
                  <a:chOff x="4219511" y="2497928"/>
                  <a:chExt cx="491094" cy="537519"/>
                </a:xfrm>
              </p:grpSpPr>
              <p:sp>
                <p:nvSpPr>
                  <p:cNvPr id="163" name="Parallelogram 162">
                    <a:extLst>
                      <a:ext uri="{FF2B5EF4-FFF2-40B4-BE49-F238E27FC236}">
                        <a16:creationId xmlns:a16="http://schemas.microsoft.com/office/drawing/2014/main" id="{F3139866-1A6D-3790-B5E9-8A2744363F7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9511" y="2837738"/>
                    <a:ext cx="475075" cy="197709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4" name="Parallelogram 163">
                    <a:extLst>
                      <a:ext uri="{FF2B5EF4-FFF2-40B4-BE49-F238E27FC236}">
                        <a16:creationId xmlns:a16="http://schemas.microsoft.com/office/drawing/2014/main" id="{0DE03FD4-CF3E-C64F-90F6-39B7DB4268C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23217" y="2751243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5" name="Parallelogram 164">
                    <a:extLst>
                      <a:ext uri="{FF2B5EF4-FFF2-40B4-BE49-F238E27FC236}">
                        <a16:creationId xmlns:a16="http://schemas.microsoft.com/office/drawing/2014/main" id="{1B49A4F9-42BF-885D-E3D2-D26F088673D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0122" y="2660432"/>
                    <a:ext cx="475073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6" name="Parallelogram 165">
                    <a:extLst>
                      <a:ext uri="{FF2B5EF4-FFF2-40B4-BE49-F238E27FC236}">
                        <a16:creationId xmlns:a16="http://schemas.microsoft.com/office/drawing/2014/main" id="{BB4A7400-C632-2774-DD20-6C5D4E39907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580031"/>
                    <a:ext cx="478952" cy="197706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7" name="Parallelogram 166">
                    <a:extLst>
                      <a:ext uri="{FF2B5EF4-FFF2-40B4-BE49-F238E27FC236}">
                        <a16:creationId xmlns:a16="http://schemas.microsoft.com/office/drawing/2014/main" id="{E8E1CFD8-ECBC-9ADC-F171-8510AF8690E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497928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187FC4E0-4B43-645A-F796-62EF8B398A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8934" y="907849"/>
                  <a:ext cx="580905" cy="207065"/>
                  <a:chOff x="675" y="1253"/>
                  <a:chExt cx="1725" cy="741"/>
                </a:xfrm>
              </p:grpSpPr>
              <p:sp>
                <p:nvSpPr>
                  <p:cNvPr id="175" name="Freeform 16">
                    <a:extLst>
                      <a:ext uri="{FF2B5EF4-FFF2-40B4-BE49-F238E27FC236}">
                        <a16:creationId xmlns:a16="http://schemas.microsoft.com/office/drawing/2014/main" id="{D2E93947-7054-83E3-DA42-9114A34A0E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0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0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0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0"/>
                          <a:pt x="0" y="262"/>
                        </a:cubicBezTo>
                        <a:cubicBezTo>
                          <a:pt x="0" y="178"/>
                          <a:pt x="0" y="178"/>
                          <a:pt x="0" y="178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8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solidFill>
                    <a:srgbClr val="F976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6" name="Freeform 17">
                    <a:extLst>
                      <a:ext uri="{FF2B5EF4-FFF2-40B4-BE49-F238E27FC236}">
                        <a16:creationId xmlns:a16="http://schemas.microsoft.com/office/drawing/2014/main" id="{E4A5568D-9743-E73E-2C92-9056835047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253"/>
                    <a:ext cx="853" cy="741"/>
                  </a:xfrm>
                  <a:custGeom>
                    <a:avLst/>
                    <a:gdLst>
                      <a:gd name="T0" fmla="*/ 0 w 540"/>
                      <a:gd name="T1" fmla="*/ 2102 h 440"/>
                      <a:gd name="T2" fmla="*/ 1467 w 540"/>
                      <a:gd name="T3" fmla="*/ 2102 h 440"/>
                      <a:gd name="T4" fmla="*/ 2128 w 540"/>
                      <a:gd name="T5" fmla="*/ 1251 h 440"/>
                      <a:gd name="T6" fmla="*/ 2128 w 540"/>
                      <a:gd name="T7" fmla="*/ 850 h 440"/>
                      <a:gd name="T8" fmla="*/ 1467 w 540"/>
                      <a:gd name="T9" fmla="*/ 0 h 440"/>
                      <a:gd name="T10" fmla="*/ 0 w 540"/>
                      <a:gd name="T11" fmla="*/ 0 h 440"/>
                      <a:gd name="T12" fmla="*/ 190 w 540"/>
                      <a:gd name="T13" fmla="*/ 1032 h 440"/>
                      <a:gd name="T14" fmla="*/ 0 w 540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540" h="440">
                        <a:moveTo>
                          <a:pt x="0" y="440"/>
                        </a:moveTo>
                        <a:cubicBezTo>
                          <a:pt x="372" y="440"/>
                          <a:pt x="372" y="440"/>
                          <a:pt x="372" y="440"/>
                        </a:cubicBezTo>
                        <a:cubicBezTo>
                          <a:pt x="465" y="440"/>
                          <a:pt x="540" y="360"/>
                          <a:pt x="540" y="262"/>
                        </a:cubicBezTo>
                        <a:cubicBezTo>
                          <a:pt x="540" y="178"/>
                          <a:pt x="540" y="178"/>
                          <a:pt x="540" y="178"/>
                        </a:cubicBezTo>
                        <a:cubicBezTo>
                          <a:pt x="540" y="80"/>
                          <a:pt x="465" y="0"/>
                          <a:pt x="37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8" y="28"/>
                          <a:pt x="48" y="216"/>
                        </a:cubicBezTo>
                        <a:cubicBezTo>
                          <a:pt x="48" y="404"/>
                          <a:pt x="0" y="440"/>
                          <a:pt x="0" y="440"/>
                        </a:cubicBezTo>
                        <a:close/>
                      </a:path>
                    </a:pathLst>
                  </a:custGeom>
                  <a:solidFill>
                    <a:srgbClr val="0909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7" name="Freeform 18">
                    <a:extLst>
                      <a:ext uri="{FF2B5EF4-FFF2-40B4-BE49-F238E27FC236}">
                        <a16:creationId xmlns:a16="http://schemas.microsoft.com/office/drawing/2014/main" id="{9FCE6AC9-F322-3E49-F26C-71581EC335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920" cy="741"/>
                  </a:xfrm>
                  <a:custGeom>
                    <a:avLst/>
                    <a:gdLst>
                      <a:gd name="T0" fmla="*/ 2181 w 582"/>
                      <a:gd name="T1" fmla="*/ 2102 h 440"/>
                      <a:gd name="T2" fmla="*/ 659 w 582"/>
                      <a:gd name="T3" fmla="*/ 2102 h 440"/>
                      <a:gd name="T4" fmla="*/ 0 w 582"/>
                      <a:gd name="T5" fmla="*/ 1251 h 440"/>
                      <a:gd name="T6" fmla="*/ 0 w 582"/>
                      <a:gd name="T7" fmla="*/ 854 h 440"/>
                      <a:gd name="T8" fmla="*/ 659 w 582"/>
                      <a:gd name="T9" fmla="*/ 0 h 440"/>
                      <a:gd name="T10" fmla="*/ 362 w 582"/>
                      <a:gd name="T11" fmla="*/ 1053 h 440"/>
                      <a:gd name="T12" fmla="*/ 2053 w 582"/>
                      <a:gd name="T13" fmla="*/ 1815 h 440"/>
                      <a:gd name="T14" fmla="*/ 2298 w 582"/>
                      <a:gd name="T15" fmla="*/ 1821 h 440"/>
                      <a:gd name="T16" fmla="*/ 2181 w 582"/>
                      <a:gd name="T17" fmla="*/ 2102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82" h="440">
                        <a:moveTo>
                          <a:pt x="552" y="440"/>
                        </a:moveTo>
                        <a:cubicBezTo>
                          <a:pt x="167" y="440"/>
                          <a:pt x="167" y="440"/>
                          <a:pt x="167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7" y="0"/>
                        </a:cubicBezTo>
                        <a:cubicBezTo>
                          <a:pt x="167" y="0"/>
                          <a:pt x="88" y="4"/>
                          <a:pt x="92" y="220"/>
                        </a:cubicBezTo>
                        <a:cubicBezTo>
                          <a:pt x="94" y="365"/>
                          <a:pt x="212" y="380"/>
                          <a:pt x="520" y="380"/>
                        </a:cubicBezTo>
                        <a:cubicBezTo>
                          <a:pt x="541" y="380"/>
                          <a:pt x="562" y="381"/>
                          <a:pt x="582" y="381"/>
                        </a:cubicBezTo>
                        <a:cubicBezTo>
                          <a:pt x="582" y="381"/>
                          <a:pt x="564" y="436"/>
                          <a:pt x="552" y="440"/>
                        </a:cubicBezTo>
                        <a:close/>
                      </a:path>
                    </a:pathLst>
                  </a:cu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8" name="Freeform 19">
                    <a:extLst>
                      <a:ext uri="{FF2B5EF4-FFF2-40B4-BE49-F238E27FC236}">
                        <a16:creationId xmlns:a16="http://schemas.microsoft.com/office/drawing/2014/main" id="{222038E8-9C6D-B8EA-B3FF-44713932B5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792"/>
                    <a:ext cx="839" cy="202"/>
                  </a:xfrm>
                  <a:custGeom>
                    <a:avLst/>
                    <a:gdLst>
                      <a:gd name="T0" fmla="*/ 0 w 531"/>
                      <a:gd name="T1" fmla="*/ 572 h 120"/>
                      <a:gd name="T2" fmla="*/ 1468 w 531"/>
                      <a:gd name="T3" fmla="*/ 572 h 120"/>
                      <a:gd name="T4" fmla="*/ 2095 w 531"/>
                      <a:gd name="T5" fmla="*/ 0 h 120"/>
                      <a:gd name="T6" fmla="*/ 117 w 531"/>
                      <a:gd name="T7" fmla="*/ 291 h 120"/>
                      <a:gd name="T8" fmla="*/ 0 w 531"/>
                      <a:gd name="T9" fmla="*/ 572 h 1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31" h="120">
                        <a:moveTo>
                          <a:pt x="0" y="120"/>
                        </a:moveTo>
                        <a:cubicBezTo>
                          <a:pt x="372" y="120"/>
                          <a:pt x="372" y="120"/>
                          <a:pt x="372" y="120"/>
                        </a:cubicBezTo>
                        <a:cubicBezTo>
                          <a:pt x="446" y="120"/>
                          <a:pt x="508" y="70"/>
                          <a:pt x="531" y="0"/>
                        </a:cubicBezTo>
                        <a:cubicBezTo>
                          <a:pt x="459" y="78"/>
                          <a:pt x="300" y="63"/>
                          <a:pt x="30" y="61"/>
                        </a:cubicBezTo>
                        <a:cubicBezTo>
                          <a:pt x="30" y="61"/>
                          <a:pt x="18" y="104"/>
                          <a:pt x="0" y="120"/>
                        </a:cubicBezTo>
                        <a:close/>
                      </a:path>
                    </a:pathLst>
                  </a:custGeom>
                  <a:solidFill>
                    <a:srgbClr val="0707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7862C588-D7D3-9E40-7883-0EC72DF004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371"/>
                    <a:ext cx="215" cy="529"/>
                  </a:xfrm>
                  <a:prstGeom prst="ellipse">
                    <a:avLst/>
                  </a:pr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80" name="Freeform 21">
                    <a:extLst>
                      <a:ext uri="{FF2B5EF4-FFF2-40B4-BE49-F238E27FC236}">
                        <a16:creationId xmlns:a16="http://schemas.microsoft.com/office/drawing/2014/main" id="{B97D0573-F651-03A3-3D83-747AABF9A1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" y="1374"/>
                    <a:ext cx="694" cy="474"/>
                  </a:xfrm>
                  <a:custGeom>
                    <a:avLst/>
                    <a:gdLst>
                      <a:gd name="T0" fmla="*/ 0 w 439"/>
                      <a:gd name="T1" fmla="*/ 96 h 281"/>
                      <a:gd name="T2" fmla="*/ 81 w 439"/>
                      <a:gd name="T3" fmla="*/ 638 h 281"/>
                      <a:gd name="T4" fmla="*/ 150 w 439"/>
                      <a:gd name="T5" fmla="*/ 1095 h 281"/>
                      <a:gd name="T6" fmla="*/ 1699 w 439"/>
                      <a:gd name="T7" fmla="*/ 1132 h 281"/>
                      <a:gd name="T8" fmla="*/ 1720 w 439"/>
                      <a:gd name="T9" fmla="*/ 558 h 281"/>
                      <a:gd name="T10" fmla="*/ 1665 w 439"/>
                      <a:gd name="T11" fmla="*/ 86 h 281"/>
                      <a:gd name="T12" fmla="*/ 22 w 439"/>
                      <a:gd name="T13" fmla="*/ 86 h 2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39" h="281">
                        <a:moveTo>
                          <a:pt x="0" y="20"/>
                        </a:moveTo>
                        <a:cubicBezTo>
                          <a:pt x="13" y="57"/>
                          <a:pt x="17" y="93"/>
                          <a:pt x="20" y="133"/>
                        </a:cubicBezTo>
                        <a:cubicBezTo>
                          <a:pt x="23" y="162"/>
                          <a:pt x="14" y="206"/>
                          <a:pt x="38" y="228"/>
                        </a:cubicBezTo>
                        <a:cubicBezTo>
                          <a:pt x="56" y="244"/>
                          <a:pt x="419" y="281"/>
                          <a:pt x="430" y="236"/>
                        </a:cubicBezTo>
                        <a:cubicBezTo>
                          <a:pt x="438" y="209"/>
                          <a:pt x="439" y="146"/>
                          <a:pt x="435" y="116"/>
                        </a:cubicBezTo>
                        <a:cubicBezTo>
                          <a:pt x="432" y="95"/>
                          <a:pt x="439" y="33"/>
                          <a:pt x="421" y="18"/>
                        </a:cubicBezTo>
                        <a:cubicBezTo>
                          <a:pt x="408" y="6"/>
                          <a:pt x="25" y="0"/>
                          <a:pt x="6" y="18"/>
                        </a:cubicBezTo>
                      </a:path>
                    </a:pathLst>
                  </a:custGeom>
                  <a:solidFill>
                    <a:srgbClr val="F785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1" name="Freeform 22">
                    <a:extLst>
                      <a:ext uri="{FF2B5EF4-FFF2-40B4-BE49-F238E27FC236}">
                        <a16:creationId xmlns:a16="http://schemas.microsoft.com/office/drawing/2014/main" id="{DBBD3B2C-EB6C-B040-E789-B71D226FEB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6" y="1386"/>
                    <a:ext cx="766" cy="495"/>
                  </a:xfrm>
                  <a:custGeom>
                    <a:avLst/>
                    <a:gdLst>
                      <a:gd name="T0" fmla="*/ 22 w 485"/>
                      <a:gd name="T1" fmla="*/ 37 h 294"/>
                      <a:gd name="T2" fmla="*/ 68 w 485"/>
                      <a:gd name="T3" fmla="*/ 887 h 294"/>
                      <a:gd name="T4" fmla="*/ 145 w 485"/>
                      <a:gd name="T5" fmla="*/ 1153 h 294"/>
                      <a:gd name="T6" fmla="*/ 1829 w 485"/>
                      <a:gd name="T7" fmla="*/ 970 h 294"/>
                      <a:gd name="T8" fmla="*/ 1808 w 485"/>
                      <a:gd name="T9" fmla="*/ 273 h 294"/>
                      <a:gd name="T10" fmla="*/ 1421 w 485"/>
                      <a:gd name="T11" fmla="*/ 34 h 294"/>
                      <a:gd name="T12" fmla="*/ 22 w 485"/>
                      <a:gd name="T13" fmla="*/ 37 h 29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85" h="294">
                        <a:moveTo>
                          <a:pt x="6" y="8"/>
                        </a:moveTo>
                        <a:cubicBezTo>
                          <a:pt x="21" y="41"/>
                          <a:pt x="19" y="169"/>
                          <a:pt x="17" y="186"/>
                        </a:cubicBezTo>
                        <a:cubicBezTo>
                          <a:pt x="14" y="207"/>
                          <a:pt x="0" y="240"/>
                          <a:pt x="37" y="242"/>
                        </a:cubicBezTo>
                        <a:cubicBezTo>
                          <a:pt x="74" y="244"/>
                          <a:pt x="404" y="294"/>
                          <a:pt x="464" y="203"/>
                        </a:cubicBezTo>
                        <a:cubicBezTo>
                          <a:pt x="485" y="171"/>
                          <a:pt x="478" y="89"/>
                          <a:pt x="459" y="57"/>
                        </a:cubicBezTo>
                        <a:cubicBezTo>
                          <a:pt x="437" y="22"/>
                          <a:pt x="401" y="11"/>
                          <a:pt x="361" y="7"/>
                        </a:cubicBezTo>
                        <a:cubicBezTo>
                          <a:pt x="300" y="0"/>
                          <a:pt x="15" y="3"/>
                          <a:pt x="6" y="8"/>
                        </a:cubicBezTo>
                      </a:path>
                    </a:pathLst>
                  </a:custGeom>
                  <a:solidFill>
                    <a:srgbClr val="2323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 dirty="0"/>
                  </a:p>
                </p:txBody>
              </p:sp>
              <p:sp>
                <p:nvSpPr>
                  <p:cNvPr id="182" name="Freeform 23">
                    <a:extLst>
                      <a:ext uri="{FF2B5EF4-FFF2-40B4-BE49-F238E27FC236}">
                        <a16:creationId xmlns:a16="http://schemas.microsoft.com/office/drawing/2014/main" id="{66C20B3F-5B40-C52F-B29F-6152980D76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1315"/>
                    <a:ext cx="57" cy="568"/>
                  </a:xfrm>
                  <a:custGeom>
                    <a:avLst/>
                    <a:gdLst>
                      <a:gd name="T0" fmla="*/ 40 w 36"/>
                      <a:gd name="T1" fmla="*/ 0 h 337"/>
                      <a:gd name="T2" fmla="*/ 116 w 36"/>
                      <a:gd name="T3" fmla="*/ 327 h 337"/>
                      <a:gd name="T4" fmla="*/ 124 w 36"/>
                      <a:gd name="T5" fmla="*/ 770 h 337"/>
                      <a:gd name="T6" fmla="*/ 82 w 36"/>
                      <a:gd name="T7" fmla="*/ 1215 h 337"/>
                      <a:gd name="T8" fmla="*/ 0 w 36"/>
                      <a:gd name="T9" fmla="*/ 1613 h 337"/>
                      <a:gd name="T10" fmla="*/ 108 w 36"/>
                      <a:gd name="T11" fmla="*/ 1284 h 337"/>
                      <a:gd name="T12" fmla="*/ 138 w 36"/>
                      <a:gd name="T13" fmla="*/ 861 h 337"/>
                      <a:gd name="T14" fmla="*/ 124 w 36"/>
                      <a:gd name="T15" fmla="*/ 469 h 337"/>
                      <a:gd name="T16" fmla="*/ 87 w 36"/>
                      <a:gd name="T17" fmla="*/ 236 h 337"/>
                      <a:gd name="T18" fmla="*/ 55 w 36"/>
                      <a:gd name="T19" fmla="*/ 78 h 3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6" h="337">
                        <a:moveTo>
                          <a:pt x="10" y="0"/>
                        </a:moveTo>
                        <a:cubicBezTo>
                          <a:pt x="23" y="13"/>
                          <a:pt x="28" y="49"/>
                          <a:pt x="29" y="68"/>
                        </a:cubicBezTo>
                        <a:cubicBezTo>
                          <a:pt x="32" y="98"/>
                          <a:pt x="34" y="131"/>
                          <a:pt x="31" y="161"/>
                        </a:cubicBezTo>
                        <a:cubicBezTo>
                          <a:pt x="28" y="192"/>
                          <a:pt x="27" y="224"/>
                          <a:pt x="21" y="254"/>
                        </a:cubicBezTo>
                        <a:cubicBezTo>
                          <a:pt x="16" y="280"/>
                          <a:pt x="10" y="312"/>
                          <a:pt x="0" y="337"/>
                        </a:cubicBezTo>
                        <a:cubicBezTo>
                          <a:pt x="16" y="321"/>
                          <a:pt x="22" y="289"/>
                          <a:pt x="27" y="268"/>
                        </a:cubicBezTo>
                        <a:cubicBezTo>
                          <a:pt x="34" y="239"/>
                          <a:pt x="34" y="209"/>
                          <a:pt x="35" y="180"/>
                        </a:cubicBezTo>
                        <a:cubicBezTo>
                          <a:pt x="36" y="153"/>
                          <a:pt x="35" y="125"/>
                          <a:pt x="31" y="98"/>
                        </a:cubicBezTo>
                        <a:cubicBezTo>
                          <a:pt x="29" y="82"/>
                          <a:pt x="26" y="65"/>
                          <a:pt x="22" y="49"/>
                        </a:cubicBezTo>
                        <a:cubicBezTo>
                          <a:pt x="20" y="38"/>
                          <a:pt x="14" y="26"/>
                          <a:pt x="14" y="16"/>
                        </a:cubicBezTo>
                      </a:path>
                    </a:pathLst>
                  </a:custGeom>
                  <a:solidFill>
                    <a:srgbClr val="F4AC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3" name="Freeform 24">
                    <a:extLst>
                      <a:ext uri="{FF2B5EF4-FFF2-40B4-BE49-F238E27FC236}">
                        <a16:creationId xmlns:a16="http://schemas.microsoft.com/office/drawing/2014/main" id="{4C919F0F-AB70-F28C-7B7F-8B69343A51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9" y="1302"/>
                    <a:ext cx="665" cy="52"/>
                  </a:xfrm>
                  <a:custGeom>
                    <a:avLst/>
                    <a:gdLst>
                      <a:gd name="T0" fmla="*/ 14 w 421"/>
                      <a:gd name="T1" fmla="*/ 42 h 31"/>
                      <a:gd name="T2" fmla="*/ 1447 w 421"/>
                      <a:gd name="T3" fmla="*/ 20 h 31"/>
                      <a:gd name="T4" fmla="*/ 1659 w 421"/>
                      <a:gd name="T5" fmla="*/ 146 h 31"/>
                      <a:gd name="T6" fmla="*/ 1428 w 421"/>
                      <a:gd name="T7" fmla="*/ 0 h 31"/>
                      <a:gd name="T8" fmla="*/ 0 w 421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21" h="31">
                        <a:moveTo>
                          <a:pt x="4" y="9"/>
                        </a:moveTo>
                        <a:cubicBezTo>
                          <a:pt x="187" y="7"/>
                          <a:pt x="367" y="4"/>
                          <a:pt x="367" y="4"/>
                        </a:cubicBezTo>
                        <a:cubicBezTo>
                          <a:pt x="367" y="4"/>
                          <a:pt x="407" y="11"/>
                          <a:pt x="421" y="31"/>
                        </a:cubicBezTo>
                        <a:cubicBezTo>
                          <a:pt x="421" y="31"/>
                          <a:pt x="392" y="0"/>
                          <a:pt x="36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4D4D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4" name="Freeform 25">
                    <a:extLst>
                      <a:ext uri="{FF2B5EF4-FFF2-40B4-BE49-F238E27FC236}">
                        <a16:creationId xmlns:a16="http://schemas.microsoft.com/office/drawing/2014/main" id="{0F090B24-7FEE-4808-1887-B3A5076689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" y="1302"/>
                    <a:ext cx="719" cy="86"/>
                  </a:xfrm>
                  <a:custGeom>
                    <a:avLst/>
                    <a:gdLst>
                      <a:gd name="T0" fmla="*/ 1781 w 455"/>
                      <a:gd name="T1" fmla="*/ 0 h 51"/>
                      <a:gd name="T2" fmla="*/ 307 w 455"/>
                      <a:gd name="T3" fmla="*/ 0 h 51"/>
                      <a:gd name="T4" fmla="*/ 0 w 455"/>
                      <a:gd name="T5" fmla="*/ 245 h 51"/>
                      <a:gd name="T6" fmla="*/ 324 w 455"/>
                      <a:gd name="T7" fmla="*/ 62 h 51"/>
                      <a:gd name="T8" fmla="*/ 1795 w 455"/>
                      <a:gd name="T9" fmla="*/ 42 h 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55" h="51">
                        <a:moveTo>
                          <a:pt x="451" y="0"/>
                        </a:move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8" y="0"/>
                          <a:pt x="17" y="8"/>
                          <a:pt x="0" y="51"/>
                        </a:cubicBezTo>
                        <a:cubicBezTo>
                          <a:pt x="0" y="51"/>
                          <a:pt x="34" y="13"/>
                          <a:pt x="82" y="13"/>
                        </a:cubicBezTo>
                        <a:cubicBezTo>
                          <a:pt x="105" y="13"/>
                          <a:pt x="281" y="11"/>
                          <a:pt x="455" y="9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5" name="Freeform 26">
                    <a:extLst>
                      <a:ext uri="{FF2B5EF4-FFF2-40B4-BE49-F238E27FC236}">
                        <a16:creationId xmlns:a16="http://schemas.microsoft.com/office/drawing/2014/main" id="{6ABF2F0B-444F-3B4A-8919-DB28315F37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24"/>
                    <a:ext cx="597" cy="59"/>
                  </a:xfrm>
                  <a:custGeom>
                    <a:avLst/>
                    <a:gdLst>
                      <a:gd name="T0" fmla="*/ 0 w 378"/>
                      <a:gd name="T1" fmla="*/ 13 h 35"/>
                      <a:gd name="T2" fmla="*/ 5 w 378"/>
                      <a:gd name="T3" fmla="*/ 167 h 35"/>
                      <a:gd name="T4" fmla="*/ 1489 w 378"/>
                      <a:gd name="T5" fmla="*/ 86 h 35"/>
                      <a:gd name="T6" fmla="*/ 0 w 378"/>
                      <a:gd name="T7" fmla="*/ 13 h 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78" h="35">
                        <a:moveTo>
                          <a:pt x="0" y="3"/>
                        </a:moveTo>
                        <a:cubicBezTo>
                          <a:pt x="0" y="3"/>
                          <a:pt x="1" y="28"/>
                          <a:pt x="1" y="35"/>
                        </a:cubicBezTo>
                        <a:cubicBezTo>
                          <a:pt x="378" y="18"/>
                          <a:pt x="378" y="18"/>
                          <a:pt x="378" y="18"/>
                        </a:cubicBezTo>
                        <a:cubicBezTo>
                          <a:pt x="378" y="18"/>
                          <a:pt x="45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4545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6" name="Freeform 27">
                    <a:extLst>
                      <a:ext uri="{FF2B5EF4-FFF2-40B4-BE49-F238E27FC236}">
                        <a16:creationId xmlns:a16="http://schemas.microsoft.com/office/drawing/2014/main" id="{7C018C2A-532B-F85A-54B4-97873FFAE9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41"/>
                    <a:ext cx="493" cy="20"/>
                  </a:xfrm>
                  <a:custGeom>
                    <a:avLst/>
                    <a:gdLst>
                      <a:gd name="T0" fmla="*/ 0 w 493"/>
                      <a:gd name="T1" fmla="*/ 0 h 20"/>
                      <a:gd name="T2" fmla="*/ 1 w 493"/>
                      <a:gd name="T3" fmla="*/ 20 h 20"/>
                      <a:gd name="T4" fmla="*/ 493 w 493"/>
                      <a:gd name="T5" fmla="*/ 14 h 20"/>
                      <a:gd name="T6" fmla="*/ 0 w 493"/>
                      <a:gd name="T7" fmla="*/ 0 h 2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3" h="20">
                        <a:moveTo>
                          <a:pt x="0" y="0"/>
                        </a:moveTo>
                        <a:lnTo>
                          <a:pt x="1" y="20"/>
                        </a:lnTo>
                        <a:lnTo>
                          <a:pt x="493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7" name="Freeform 28">
                    <a:extLst>
                      <a:ext uri="{FF2B5EF4-FFF2-40B4-BE49-F238E27FC236}">
                        <a16:creationId xmlns:a16="http://schemas.microsoft.com/office/drawing/2014/main" id="{AC26DEFD-B36B-9F4A-2C49-6357FA5569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405"/>
                    <a:ext cx="1130" cy="27"/>
                  </a:xfrm>
                  <a:custGeom>
                    <a:avLst/>
                    <a:gdLst>
                      <a:gd name="T0" fmla="*/ 0 w 715"/>
                      <a:gd name="T1" fmla="*/ 0 h 16"/>
                      <a:gd name="T2" fmla="*/ 2823 w 715"/>
                      <a:gd name="T3" fmla="*/ 0 h 16"/>
                      <a:gd name="T4" fmla="*/ 0 w 715"/>
                      <a:gd name="T5" fmla="*/ 0 h 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15" h="16">
                        <a:moveTo>
                          <a:pt x="0" y="0"/>
                        </a:moveTo>
                        <a:cubicBezTo>
                          <a:pt x="715" y="0"/>
                          <a:pt x="715" y="0"/>
                          <a:pt x="715" y="0"/>
                        </a:cubicBezTo>
                        <a:cubicBezTo>
                          <a:pt x="715" y="0"/>
                          <a:pt x="123" y="1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8" name="Freeform 29">
                    <a:extLst>
                      <a:ext uri="{FF2B5EF4-FFF2-40B4-BE49-F238E27FC236}">
                        <a16:creationId xmlns:a16="http://schemas.microsoft.com/office/drawing/2014/main" id="{CEA964A9-D0B8-8B2B-414B-6AF0467F42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732"/>
                    <a:ext cx="592" cy="33"/>
                  </a:xfrm>
                  <a:custGeom>
                    <a:avLst/>
                    <a:gdLst>
                      <a:gd name="T0" fmla="*/ 1470 w 375"/>
                      <a:gd name="T1" fmla="*/ 89 h 20"/>
                      <a:gd name="T2" fmla="*/ 0 w 375"/>
                      <a:gd name="T3" fmla="*/ 0 h 20"/>
                      <a:gd name="T4" fmla="*/ 1476 w 375"/>
                      <a:gd name="T5" fmla="*/ 0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75" h="20">
                        <a:moveTo>
                          <a:pt x="374" y="20"/>
                        </a:moveTo>
                        <a:cubicBezTo>
                          <a:pt x="261" y="20"/>
                          <a:pt x="132" y="16"/>
                          <a:pt x="0" y="0"/>
                        </a:cubicBezTo>
                        <a:cubicBezTo>
                          <a:pt x="375" y="0"/>
                          <a:pt x="375" y="0"/>
                          <a:pt x="375" y="0"/>
                        </a:cubicBezTo>
                      </a:path>
                    </a:pathLst>
                  </a:custGeom>
                  <a:solidFill>
                    <a:srgbClr val="F49A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9" name="Freeform 30">
                    <a:extLst>
                      <a:ext uri="{FF2B5EF4-FFF2-40B4-BE49-F238E27FC236}">
                        <a16:creationId xmlns:a16="http://schemas.microsoft.com/office/drawing/2014/main" id="{2BFF69CA-B4AD-B856-D806-EF5D3600F1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17" y="1732"/>
                    <a:ext cx="578" cy="33"/>
                  </a:xfrm>
                  <a:custGeom>
                    <a:avLst/>
                    <a:gdLst>
                      <a:gd name="T0" fmla="*/ 5 w 366"/>
                      <a:gd name="T1" fmla="*/ 0 h 20"/>
                      <a:gd name="T2" fmla="*/ 1442 w 366"/>
                      <a:gd name="T3" fmla="*/ 0 h 20"/>
                      <a:gd name="T4" fmla="*/ 0 w 366"/>
                      <a:gd name="T5" fmla="*/ 89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6" h="20">
                        <a:moveTo>
                          <a:pt x="1" y="0"/>
                        </a:moveTo>
                        <a:cubicBezTo>
                          <a:pt x="366" y="0"/>
                          <a:pt x="366" y="0"/>
                          <a:pt x="366" y="0"/>
                        </a:cubicBezTo>
                        <a:cubicBezTo>
                          <a:pt x="366" y="0"/>
                          <a:pt x="213" y="19"/>
                          <a:pt x="0" y="20"/>
                        </a:cubicBezTo>
                      </a:path>
                    </a:pathLst>
                  </a:custGeom>
                  <a:solidFill>
                    <a:srgbClr val="3131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0" name="Freeform 31">
                    <a:extLst>
                      <a:ext uri="{FF2B5EF4-FFF2-40B4-BE49-F238E27FC236}">
                        <a16:creationId xmlns:a16="http://schemas.microsoft.com/office/drawing/2014/main" id="{2087C69D-F338-DEE4-E049-A2BF53219F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770" cy="741"/>
                  </a:xfrm>
                  <a:custGeom>
                    <a:avLst/>
                    <a:gdLst>
                      <a:gd name="T0" fmla="*/ 1924 w 487"/>
                      <a:gd name="T1" fmla="*/ 2102 h 440"/>
                      <a:gd name="T2" fmla="*/ 666 w 487"/>
                      <a:gd name="T3" fmla="*/ 2102 h 440"/>
                      <a:gd name="T4" fmla="*/ 0 w 487"/>
                      <a:gd name="T5" fmla="*/ 1251 h 440"/>
                      <a:gd name="T6" fmla="*/ 0 w 487"/>
                      <a:gd name="T7" fmla="*/ 854 h 440"/>
                      <a:gd name="T8" fmla="*/ 666 w 487"/>
                      <a:gd name="T9" fmla="*/ 0 h 440"/>
                      <a:gd name="T10" fmla="*/ 177 w 487"/>
                      <a:gd name="T11" fmla="*/ 1061 h 440"/>
                      <a:gd name="T12" fmla="*/ 761 w 487"/>
                      <a:gd name="T13" fmla="*/ 1925 h 440"/>
                      <a:gd name="T14" fmla="*/ 1924 w 487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87" h="440">
                        <a:moveTo>
                          <a:pt x="487" y="440"/>
                        </a:move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168" y="0"/>
                          <a:pt x="38" y="12"/>
                          <a:pt x="45" y="222"/>
                        </a:cubicBezTo>
                        <a:cubicBezTo>
                          <a:pt x="50" y="366"/>
                          <a:pt x="90" y="403"/>
                          <a:pt x="192" y="403"/>
                        </a:cubicBezTo>
                        <a:cubicBezTo>
                          <a:pt x="293" y="403"/>
                          <a:pt x="487" y="440"/>
                          <a:pt x="487" y="440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1" name="Freeform 32">
                    <a:extLst>
                      <a:ext uri="{FF2B5EF4-FFF2-40B4-BE49-F238E27FC236}">
                        <a16:creationId xmlns:a16="http://schemas.microsoft.com/office/drawing/2014/main" id="{874E5E56-81B3-4FB5-22C3-0F96853C97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1470"/>
                    <a:ext cx="105" cy="346"/>
                  </a:xfrm>
                  <a:custGeom>
                    <a:avLst/>
                    <a:gdLst>
                      <a:gd name="T0" fmla="*/ 266 w 66"/>
                      <a:gd name="T1" fmla="*/ 484 h 205"/>
                      <a:gd name="T2" fmla="*/ 142 w 66"/>
                      <a:gd name="T3" fmla="*/ 986 h 205"/>
                      <a:gd name="T4" fmla="*/ 0 w 66"/>
                      <a:gd name="T5" fmla="*/ 484 h 205"/>
                      <a:gd name="T6" fmla="*/ 124 w 66"/>
                      <a:gd name="T7" fmla="*/ 0 h 205"/>
                      <a:gd name="T8" fmla="*/ 266 w 66"/>
                      <a:gd name="T9" fmla="*/ 484 h 2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05">
                        <a:moveTo>
                          <a:pt x="66" y="101"/>
                        </a:moveTo>
                        <a:cubicBezTo>
                          <a:pt x="66" y="141"/>
                          <a:pt x="54" y="205"/>
                          <a:pt x="35" y="205"/>
                        </a:cubicBezTo>
                        <a:cubicBezTo>
                          <a:pt x="17" y="205"/>
                          <a:pt x="0" y="141"/>
                          <a:pt x="0" y="101"/>
                        </a:cubicBezTo>
                        <a:cubicBezTo>
                          <a:pt x="0" y="61"/>
                          <a:pt x="13" y="0"/>
                          <a:pt x="31" y="0"/>
                        </a:cubicBezTo>
                        <a:cubicBezTo>
                          <a:pt x="49" y="0"/>
                          <a:pt x="66" y="61"/>
                          <a:pt x="66" y="101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4FC66DD7-78A1-94AF-9F7F-FA1BA819B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398"/>
                    <a:ext cx="26" cy="3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3" name="Oval 192">
                    <a:extLst>
                      <a:ext uri="{FF2B5EF4-FFF2-40B4-BE49-F238E27FC236}">
                        <a16:creationId xmlns:a16="http://schemas.microsoft.com/office/drawing/2014/main" id="{96A9A0B7-20A2-6893-7C1D-89B3312EB7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7" y="1452"/>
                    <a:ext cx="18" cy="2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712A3FFA-1B13-7A5D-DAB2-06FB436D07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5" y="1538"/>
                    <a:ext cx="27" cy="3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5" name="Freeform 36">
                    <a:extLst>
                      <a:ext uri="{FF2B5EF4-FFF2-40B4-BE49-F238E27FC236}">
                        <a16:creationId xmlns:a16="http://schemas.microsoft.com/office/drawing/2014/main" id="{09BD8169-4CAB-5EC9-D611-795B4A2533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4" y="1430"/>
                    <a:ext cx="67" cy="266"/>
                  </a:xfrm>
                  <a:custGeom>
                    <a:avLst/>
                    <a:gdLst>
                      <a:gd name="T0" fmla="*/ 73 w 42"/>
                      <a:gd name="T1" fmla="*/ 167 h 158"/>
                      <a:gd name="T2" fmla="*/ 97 w 42"/>
                      <a:gd name="T3" fmla="*/ 754 h 158"/>
                      <a:gd name="T4" fmla="*/ 136 w 42"/>
                      <a:gd name="T5" fmla="*/ 273 h 158"/>
                      <a:gd name="T6" fmla="*/ 0 w 42"/>
                      <a:gd name="T7" fmla="*/ 0 h 15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" h="158">
                        <a:moveTo>
                          <a:pt x="18" y="35"/>
                        </a:moveTo>
                        <a:cubicBezTo>
                          <a:pt x="35" y="78"/>
                          <a:pt x="19" y="116"/>
                          <a:pt x="24" y="158"/>
                        </a:cubicBezTo>
                        <a:cubicBezTo>
                          <a:pt x="40" y="131"/>
                          <a:pt x="42" y="87"/>
                          <a:pt x="33" y="57"/>
                        </a:cubicBezTo>
                        <a:cubicBezTo>
                          <a:pt x="27" y="35"/>
                          <a:pt x="5" y="18"/>
                          <a:pt x="0" y="0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F6A683AD-C3DC-8CAD-96D1-652647326C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3" y="1408"/>
                    <a:ext cx="58" cy="78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DBA57407-F411-2B2B-60BF-3F93F748E3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0" y="1514"/>
                    <a:ext cx="28" cy="44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8" name="Freeform 39">
                    <a:extLst>
                      <a:ext uri="{FF2B5EF4-FFF2-40B4-BE49-F238E27FC236}">
                        <a16:creationId xmlns:a16="http://schemas.microsoft.com/office/drawing/2014/main" id="{56C34216-8BE0-4B22-A455-447C82890B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4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4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1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9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333333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9" name="Freeform 40">
                    <a:extLst>
                      <a:ext uri="{FF2B5EF4-FFF2-40B4-BE49-F238E27FC236}">
                        <a16:creationId xmlns:a16="http://schemas.microsoft.com/office/drawing/2014/main" id="{830F04E2-3F69-3B2E-5F04-EB16B61918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5" y="1261"/>
                    <a:ext cx="54" cy="144"/>
                  </a:xfrm>
                  <a:custGeom>
                    <a:avLst/>
                    <a:gdLst>
                      <a:gd name="T0" fmla="*/ 0 w 34"/>
                      <a:gd name="T1" fmla="*/ 0 h 85"/>
                      <a:gd name="T2" fmla="*/ 137 w 34"/>
                      <a:gd name="T3" fmla="*/ 413 h 8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4" h="85">
                        <a:moveTo>
                          <a:pt x="0" y="0"/>
                        </a:moveTo>
                        <a:cubicBezTo>
                          <a:pt x="0" y="0"/>
                          <a:pt x="29" y="38"/>
                          <a:pt x="34" y="85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00" name="Freeform 41">
                    <a:extLst>
                      <a:ext uri="{FF2B5EF4-FFF2-40B4-BE49-F238E27FC236}">
                        <a16:creationId xmlns:a16="http://schemas.microsoft.com/office/drawing/2014/main" id="{BC278F20-3683-2D63-3E3C-F9B6BE3852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8" y="1743"/>
                    <a:ext cx="60" cy="236"/>
                  </a:xfrm>
                  <a:custGeom>
                    <a:avLst/>
                    <a:gdLst>
                      <a:gd name="T0" fmla="*/ 150 w 38"/>
                      <a:gd name="T1" fmla="*/ 0 h 140"/>
                      <a:gd name="T2" fmla="*/ 0 w 38"/>
                      <a:gd name="T3" fmla="*/ 671 h 1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8" h="140">
                        <a:moveTo>
                          <a:pt x="38" y="0"/>
                        </a:moveTo>
                        <a:cubicBezTo>
                          <a:pt x="38" y="0"/>
                          <a:pt x="31" y="94"/>
                          <a:pt x="0" y="140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</p:grpSp>
          </p:grpSp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CF0C2A08-7BA7-C5A2-1D49-14710A0ABF06}"/>
                  </a:ext>
                </a:extLst>
              </p:cNvPr>
              <p:cNvGrpSpPr/>
              <p:nvPr/>
            </p:nvGrpSpPr>
            <p:grpSpPr>
              <a:xfrm>
                <a:off x="2850080" y="799100"/>
                <a:ext cx="1271834" cy="1001748"/>
                <a:chOff x="1578854" y="907849"/>
                <a:chExt cx="1271834" cy="1001747"/>
              </a:xfrm>
            </p:grpSpPr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20526A4C-1845-B50A-11AE-C339FFBC3C18}"/>
                    </a:ext>
                  </a:extLst>
                </p:cNvPr>
                <p:cNvSpPr txBox="1"/>
                <p:nvPr/>
              </p:nvSpPr>
              <p:spPr>
                <a:xfrm>
                  <a:off x="1578854" y="1156250"/>
                  <a:ext cx="12718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B</a:t>
                  </a:r>
                </a:p>
              </p:txBody>
            </p: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6E47E668-4DB1-122A-A104-964C2A7BA0F4}"/>
                    </a:ext>
                  </a:extLst>
                </p:cNvPr>
                <p:cNvGrpSpPr/>
                <p:nvPr/>
              </p:nvGrpSpPr>
              <p:grpSpPr>
                <a:xfrm>
                  <a:off x="1849614" y="1462878"/>
                  <a:ext cx="640225" cy="446718"/>
                  <a:chOff x="4219511" y="2497928"/>
                  <a:chExt cx="491094" cy="537519"/>
                </a:xfrm>
              </p:grpSpPr>
              <p:sp>
                <p:nvSpPr>
                  <p:cNvPr id="257" name="Parallelogram 256">
                    <a:extLst>
                      <a:ext uri="{FF2B5EF4-FFF2-40B4-BE49-F238E27FC236}">
                        <a16:creationId xmlns:a16="http://schemas.microsoft.com/office/drawing/2014/main" id="{9228D81F-DDE0-430C-CF43-6955F3B0A8D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9511" y="2837738"/>
                    <a:ext cx="475075" cy="197709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58" name="Parallelogram 257">
                    <a:extLst>
                      <a:ext uri="{FF2B5EF4-FFF2-40B4-BE49-F238E27FC236}">
                        <a16:creationId xmlns:a16="http://schemas.microsoft.com/office/drawing/2014/main" id="{D03CD7A5-B10D-E14C-441B-733F73F225C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23217" y="2751243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59" name="Parallelogram 258">
                    <a:extLst>
                      <a:ext uri="{FF2B5EF4-FFF2-40B4-BE49-F238E27FC236}">
                        <a16:creationId xmlns:a16="http://schemas.microsoft.com/office/drawing/2014/main" id="{F0DE186F-51E3-D90D-8E5A-AA7A7935BB9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0122" y="2660432"/>
                    <a:ext cx="475073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60" name="Parallelogram 259">
                    <a:extLst>
                      <a:ext uri="{FF2B5EF4-FFF2-40B4-BE49-F238E27FC236}">
                        <a16:creationId xmlns:a16="http://schemas.microsoft.com/office/drawing/2014/main" id="{24634638-CE64-6E82-6B06-A643A5DD90C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580031"/>
                    <a:ext cx="478952" cy="197706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61" name="Parallelogram 260">
                    <a:extLst>
                      <a:ext uri="{FF2B5EF4-FFF2-40B4-BE49-F238E27FC236}">
                        <a16:creationId xmlns:a16="http://schemas.microsoft.com/office/drawing/2014/main" id="{D04ED86E-3F06-E0D9-39A4-3C915B1DD2B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497928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</p:grpSp>
            <p:grpSp>
              <p:nvGrpSpPr>
                <p:cNvPr id="230" name="Group 229">
                  <a:extLst>
                    <a:ext uri="{FF2B5EF4-FFF2-40B4-BE49-F238E27FC236}">
                      <a16:creationId xmlns:a16="http://schemas.microsoft.com/office/drawing/2014/main" id="{E8D30B10-ED38-25AB-478D-5F70F7AA44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8934" y="907849"/>
                  <a:ext cx="580905" cy="207065"/>
                  <a:chOff x="675" y="1253"/>
                  <a:chExt cx="1725" cy="741"/>
                </a:xfrm>
              </p:grpSpPr>
              <p:sp>
                <p:nvSpPr>
                  <p:cNvPr id="231" name="Freeform 16">
                    <a:extLst>
                      <a:ext uri="{FF2B5EF4-FFF2-40B4-BE49-F238E27FC236}">
                        <a16:creationId xmlns:a16="http://schemas.microsoft.com/office/drawing/2014/main" id="{24EE6935-4C31-27C8-1D97-3A7F183280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0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0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0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0"/>
                          <a:pt x="0" y="262"/>
                        </a:cubicBezTo>
                        <a:cubicBezTo>
                          <a:pt x="0" y="178"/>
                          <a:pt x="0" y="178"/>
                          <a:pt x="0" y="178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8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solidFill>
                    <a:srgbClr val="F976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2" name="Freeform 17">
                    <a:extLst>
                      <a:ext uri="{FF2B5EF4-FFF2-40B4-BE49-F238E27FC236}">
                        <a16:creationId xmlns:a16="http://schemas.microsoft.com/office/drawing/2014/main" id="{D19B5A73-1BEA-6DA4-C251-DD6B98E382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253"/>
                    <a:ext cx="853" cy="741"/>
                  </a:xfrm>
                  <a:custGeom>
                    <a:avLst/>
                    <a:gdLst>
                      <a:gd name="T0" fmla="*/ 0 w 540"/>
                      <a:gd name="T1" fmla="*/ 2102 h 440"/>
                      <a:gd name="T2" fmla="*/ 1467 w 540"/>
                      <a:gd name="T3" fmla="*/ 2102 h 440"/>
                      <a:gd name="T4" fmla="*/ 2128 w 540"/>
                      <a:gd name="T5" fmla="*/ 1251 h 440"/>
                      <a:gd name="T6" fmla="*/ 2128 w 540"/>
                      <a:gd name="T7" fmla="*/ 850 h 440"/>
                      <a:gd name="T8" fmla="*/ 1467 w 540"/>
                      <a:gd name="T9" fmla="*/ 0 h 440"/>
                      <a:gd name="T10" fmla="*/ 0 w 540"/>
                      <a:gd name="T11" fmla="*/ 0 h 440"/>
                      <a:gd name="T12" fmla="*/ 190 w 540"/>
                      <a:gd name="T13" fmla="*/ 1032 h 440"/>
                      <a:gd name="T14" fmla="*/ 0 w 540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540" h="440">
                        <a:moveTo>
                          <a:pt x="0" y="440"/>
                        </a:moveTo>
                        <a:cubicBezTo>
                          <a:pt x="372" y="440"/>
                          <a:pt x="372" y="440"/>
                          <a:pt x="372" y="440"/>
                        </a:cubicBezTo>
                        <a:cubicBezTo>
                          <a:pt x="465" y="440"/>
                          <a:pt x="540" y="360"/>
                          <a:pt x="540" y="262"/>
                        </a:cubicBezTo>
                        <a:cubicBezTo>
                          <a:pt x="540" y="178"/>
                          <a:pt x="540" y="178"/>
                          <a:pt x="540" y="178"/>
                        </a:cubicBezTo>
                        <a:cubicBezTo>
                          <a:pt x="540" y="80"/>
                          <a:pt x="465" y="0"/>
                          <a:pt x="37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8" y="28"/>
                          <a:pt x="48" y="216"/>
                        </a:cubicBezTo>
                        <a:cubicBezTo>
                          <a:pt x="48" y="404"/>
                          <a:pt x="0" y="440"/>
                          <a:pt x="0" y="440"/>
                        </a:cubicBezTo>
                        <a:close/>
                      </a:path>
                    </a:pathLst>
                  </a:custGeom>
                  <a:solidFill>
                    <a:srgbClr val="0909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3" name="Freeform 18">
                    <a:extLst>
                      <a:ext uri="{FF2B5EF4-FFF2-40B4-BE49-F238E27FC236}">
                        <a16:creationId xmlns:a16="http://schemas.microsoft.com/office/drawing/2014/main" id="{FD79A0F2-F259-BBF1-227F-7052575A10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920" cy="741"/>
                  </a:xfrm>
                  <a:custGeom>
                    <a:avLst/>
                    <a:gdLst>
                      <a:gd name="T0" fmla="*/ 2181 w 582"/>
                      <a:gd name="T1" fmla="*/ 2102 h 440"/>
                      <a:gd name="T2" fmla="*/ 659 w 582"/>
                      <a:gd name="T3" fmla="*/ 2102 h 440"/>
                      <a:gd name="T4" fmla="*/ 0 w 582"/>
                      <a:gd name="T5" fmla="*/ 1251 h 440"/>
                      <a:gd name="T6" fmla="*/ 0 w 582"/>
                      <a:gd name="T7" fmla="*/ 854 h 440"/>
                      <a:gd name="T8" fmla="*/ 659 w 582"/>
                      <a:gd name="T9" fmla="*/ 0 h 440"/>
                      <a:gd name="T10" fmla="*/ 362 w 582"/>
                      <a:gd name="T11" fmla="*/ 1053 h 440"/>
                      <a:gd name="T12" fmla="*/ 2053 w 582"/>
                      <a:gd name="T13" fmla="*/ 1815 h 440"/>
                      <a:gd name="T14" fmla="*/ 2298 w 582"/>
                      <a:gd name="T15" fmla="*/ 1821 h 440"/>
                      <a:gd name="T16" fmla="*/ 2181 w 582"/>
                      <a:gd name="T17" fmla="*/ 2102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82" h="440">
                        <a:moveTo>
                          <a:pt x="552" y="440"/>
                        </a:moveTo>
                        <a:cubicBezTo>
                          <a:pt x="167" y="440"/>
                          <a:pt x="167" y="440"/>
                          <a:pt x="167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7" y="0"/>
                        </a:cubicBezTo>
                        <a:cubicBezTo>
                          <a:pt x="167" y="0"/>
                          <a:pt x="88" y="4"/>
                          <a:pt x="92" y="220"/>
                        </a:cubicBezTo>
                        <a:cubicBezTo>
                          <a:pt x="94" y="365"/>
                          <a:pt x="212" y="380"/>
                          <a:pt x="520" y="380"/>
                        </a:cubicBezTo>
                        <a:cubicBezTo>
                          <a:pt x="541" y="380"/>
                          <a:pt x="562" y="381"/>
                          <a:pt x="582" y="381"/>
                        </a:cubicBezTo>
                        <a:cubicBezTo>
                          <a:pt x="582" y="381"/>
                          <a:pt x="564" y="436"/>
                          <a:pt x="552" y="440"/>
                        </a:cubicBezTo>
                        <a:close/>
                      </a:path>
                    </a:pathLst>
                  </a:cu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4" name="Freeform 19">
                    <a:extLst>
                      <a:ext uri="{FF2B5EF4-FFF2-40B4-BE49-F238E27FC236}">
                        <a16:creationId xmlns:a16="http://schemas.microsoft.com/office/drawing/2014/main" id="{B0E20A34-F074-7256-2130-4C91063BB8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792"/>
                    <a:ext cx="839" cy="202"/>
                  </a:xfrm>
                  <a:custGeom>
                    <a:avLst/>
                    <a:gdLst>
                      <a:gd name="T0" fmla="*/ 0 w 531"/>
                      <a:gd name="T1" fmla="*/ 572 h 120"/>
                      <a:gd name="T2" fmla="*/ 1468 w 531"/>
                      <a:gd name="T3" fmla="*/ 572 h 120"/>
                      <a:gd name="T4" fmla="*/ 2095 w 531"/>
                      <a:gd name="T5" fmla="*/ 0 h 120"/>
                      <a:gd name="T6" fmla="*/ 117 w 531"/>
                      <a:gd name="T7" fmla="*/ 291 h 120"/>
                      <a:gd name="T8" fmla="*/ 0 w 531"/>
                      <a:gd name="T9" fmla="*/ 572 h 1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31" h="120">
                        <a:moveTo>
                          <a:pt x="0" y="120"/>
                        </a:moveTo>
                        <a:cubicBezTo>
                          <a:pt x="372" y="120"/>
                          <a:pt x="372" y="120"/>
                          <a:pt x="372" y="120"/>
                        </a:cubicBezTo>
                        <a:cubicBezTo>
                          <a:pt x="446" y="120"/>
                          <a:pt x="508" y="70"/>
                          <a:pt x="531" y="0"/>
                        </a:cubicBezTo>
                        <a:cubicBezTo>
                          <a:pt x="459" y="78"/>
                          <a:pt x="300" y="63"/>
                          <a:pt x="30" y="61"/>
                        </a:cubicBezTo>
                        <a:cubicBezTo>
                          <a:pt x="30" y="61"/>
                          <a:pt x="18" y="104"/>
                          <a:pt x="0" y="120"/>
                        </a:cubicBezTo>
                        <a:close/>
                      </a:path>
                    </a:pathLst>
                  </a:custGeom>
                  <a:solidFill>
                    <a:srgbClr val="0707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0460AC7D-B4B2-C54C-4762-C60DDB1CF4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371"/>
                    <a:ext cx="215" cy="529"/>
                  </a:xfrm>
                  <a:prstGeom prst="ellipse">
                    <a:avLst/>
                  </a:pr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36" name="Freeform 21">
                    <a:extLst>
                      <a:ext uri="{FF2B5EF4-FFF2-40B4-BE49-F238E27FC236}">
                        <a16:creationId xmlns:a16="http://schemas.microsoft.com/office/drawing/2014/main" id="{92433422-8F08-F735-6F34-91CCF11D2B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" y="1374"/>
                    <a:ext cx="694" cy="474"/>
                  </a:xfrm>
                  <a:custGeom>
                    <a:avLst/>
                    <a:gdLst>
                      <a:gd name="T0" fmla="*/ 0 w 439"/>
                      <a:gd name="T1" fmla="*/ 96 h 281"/>
                      <a:gd name="T2" fmla="*/ 81 w 439"/>
                      <a:gd name="T3" fmla="*/ 638 h 281"/>
                      <a:gd name="T4" fmla="*/ 150 w 439"/>
                      <a:gd name="T5" fmla="*/ 1095 h 281"/>
                      <a:gd name="T6" fmla="*/ 1699 w 439"/>
                      <a:gd name="T7" fmla="*/ 1132 h 281"/>
                      <a:gd name="T8" fmla="*/ 1720 w 439"/>
                      <a:gd name="T9" fmla="*/ 558 h 281"/>
                      <a:gd name="T10" fmla="*/ 1665 w 439"/>
                      <a:gd name="T11" fmla="*/ 86 h 281"/>
                      <a:gd name="T12" fmla="*/ 22 w 439"/>
                      <a:gd name="T13" fmla="*/ 86 h 2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39" h="281">
                        <a:moveTo>
                          <a:pt x="0" y="20"/>
                        </a:moveTo>
                        <a:cubicBezTo>
                          <a:pt x="13" y="57"/>
                          <a:pt x="17" y="93"/>
                          <a:pt x="20" y="133"/>
                        </a:cubicBezTo>
                        <a:cubicBezTo>
                          <a:pt x="23" y="162"/>
                          <a:pt x="14" y="206"/>
                          <a:pt x="38" y="228"/>
                        </a:cubicBezTo>
                        <a:cubicBezTo>
                          <a:pt x="56" y="244"/>
                          <a:pt x="419" y="281"/>
                          <a:pt x="430" y="236"/>
                        </a:cubicBezTo>
                        <a:cubicBezTo>
                          <a:pt x="438" y="209"/>
                          <a:pt x="439" y="146"/>
                          <a:pt x="435" y="116"/>
                        </a:cubicBezTo>
                        <a:cubicBezTo>
                          <a:pt x="432" y="95"/>
                          <a:pt x="439" y="33"/>
                          <a:pt x="421" y="18"/>
                        </a:cubicBezTo>
                        <a:cubicBezTo>
                          <a:pt x="408" y="6"/>
                          <a:pt x="25" y="0"/>
                          <a:pt x="6" y="18"/>
                        </a:cubicBezTo>
                      </a:path>
                    </a:pathLst>
                  </a:custGeom>
                  <a:solidFill>
                    <a:srgbClr val="F785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7" name="Freeform 22">
                    <a:extLst>
                      <a:ext uri="{FF2B5EF4-FFF2-40B4-BE49-F238E27FC236}">
                        <a16:creationId xmlns:a16="http://schemas.microsoft.com/office/drawing/2014/main" id="{F77382CE-0331-121A-1D51-43859AC693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6" y="1386"/>
                    <a:ext cx="766" cy="495"/>
                  </a:xfrm>
                  <a:custGeom>
                    <a:avLst/>
                    <a:gdLst>
                      <a:gd name="T0" fmla="*/ 22 w 485"/>
                      <a:gd name="T1" fmla="*/ 37 h 294"/>
                      <a:gd name="T2" fmla="*/ 68 w 485"/>
                      <a:gd name="T3" fmla="*/ 887 h 294"/>
                      <a:gd name="T4" fmla="*/ 145 w 485"/>
                      <a:gd name="T5" fmla="*/ 1153 h 294"/>
                      <a:gd name="T6" fmla="*/ 1829 w 485"/>
                      <a:gd name="T7" fmla="*/ 970 h 294"/>
                      <a:gd name="T8" fmla="*/ 1808 w 485"/>
                      <a:gd name="T9" fmla="*/ 273 h 294"/>
                      <a:gd name="T10" fmla="*/ 1421 w 485"/>
                      <a:gd name="T11" fmla="*/ 34 h 294"/>
                      <a:gd name="T12" fmla="*/ 22 w 485"/>
                      <a:gd name="T13" fmla="*/ 37 h 29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85" h="294">
                        <a:moveTo>
                          <a:pt x="6" y="8"/>
                        </a:moveTo>
                        <a:cubicBezTo>
                          <a:pt x="21" y="41"/>
                          <a:pt x="19" y="169"/>
                          <a:pt x="17" y="186"/>
                        </a:cubicBezTo>
                        <a:cubicBezTo>
                          <a:pt x="14" y="207"/>
                          <a:pt x="0" y="240"/>
                          <a:pt x="37" y="242"/>
                        </a:cubicBezTo>
                        <a:cubicBezTo>
                          <a:pt x="74" y="244"/>
                          <a:pt x="404" y="294"/>
                          <a:pt x="464" y="203"/>
                        </a:cubicBezTo>
                        <a:cubicBezTo>
                          <a:pt x="485" y="171"/>
                          <a:pt x="478" y="89"/>
                          <a:pt x="459" y="57"/>
                        </a:cubicBezTo>
                        <a:cubicBezTo>
                          <a:pt x="437" y="22"/>
                          <a:pt x="401" y="11"/>
                          <a:pt x="361" y="7"/>
                        </a:cubicBezTo>
                        <a:cubicBezTo>
                          <a:pt x="300" y="0"/>
                          <a:pt x="15" y="3"/>
                          <a:pt x="6" y="8"/>
                        </a:cubicBezTo>
                      </a:path>
                    </a:pathLst>
                  </a:custGeom>
                  <a:solidFill>
                    <a:srgbClr val="2323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 dirty="0"/>
                  </a:p>
                </p:txBody>
              </p:sp>
              <p:sp>
                <p:nvSpPr>
                  <p:cNvPr id="238" name="Freeform 23">
                    <a:extLst>
                      <a:ext uri="{FF2B5EF4-FFF2-40B4-BE49-F238E27FC236}">
                        <a16:creationId xmlns:a16="http://schemas.microsoft.com/office/drawing/2014/main" id="{41CC6E1F-86AC-9C7D-31AC-68D1A84BDC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1315"/>
                    <a:ext cx="57" cy="568"/>
                  </a:xfrm>
                  <a:custGeom>
                    <a:avLst/>
                    <a:gdLst>
                      <a:gd name="T0" fmla="*/ 40 w 36"/>
                      <a:gd name="T1" fmla="*/ 0 h 337"/>
                      <a:gd name="T2" fmla="*/ 116 w 36"/>
                      <a:gd name="T3" fmla="*/ 327 h 337"/>
                      <a:gd name="T4" fmla="*/ 124 w 36"/>
                      <a:gd name="T5" fmla="*/ 770 h 337"/>
                      <a:gd name="T6" fmla="*/ 82 w 36"/>
                      <a:gd name="T7" fmla="*/ 1215 h 337"/>
                      <a:gd name="T8" fmla="*/ 0 w 36"/>
                      <a:gd name="T9" fmla="*/ 1613 h 337"/>
                      <a:gd name="T10" fmla="*/ 108 w 36"/>
                      <a:gd name="T11" fmla="*/ 1284 h 337"/>
                      <a:gd name="T12" fmla="*/ 138 w 36"/>
                      <a:gd name="T13" fmla="*/ 861 h 337"/>
                      <a:gd name="T14" fmla="*/ 124 w 36"/>
                      <a:gd name="T15" fmla="*/ 469 h 337"/>
                      <a:gd name="T16" fmla="*/ 87 w 36"/>
                      <a:gd name="T17" fmla="*/ 236 h 337"/>
                      <a:gd name="T18" fmla="*/ 55 w 36"/>
                      <a:gd name="T19" fmla="*/ 78 h 3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6" h="337">
                        <a:moveTo>
                          <a:pt x="10" y="0"/>
                        </a:moveTo>
                        <a:cubicBezTo>
                          <a:pt x="23" y="13"/>
                          <a:pt x="28" y="49"/>
                          <a:pt x="29" y="68"/>
                        </a:cubicBezTo>
                        <a:cubicBezTo>
                          <a:pt x="32" y="98"/>
                          <a:pt x="34" y="131"/>
                          <a:pt x="31" y="161"/>
                        </a:cubicBezTo>
                        <a:cubicBezTo>
                          <a:pt x="28" y="192"/>
                          <a:pt x="27" y="224"/>
                          <a:pt x="21" y="254"/>
                        </a:cubicBezTo>
                        <a:cubicBezTo>
                          <a:pt x="16" y="280"/>
                          <a:pt x="10" y="312"/>
                          <a:pt x="0" y="337"/>
                        </a:cubicBezTo>
                        <a:cubicBezTo>
                          <a:pt x="16" y="321"/>
                          <a:pt x="22" y="289"/>
                          <a:pt x="27" y="268"/>
                        </a:cubicBezTo>
                        <a:cubicBezTo>
                          <a:pt x="34" y="239"/>
                          <a:pt x="34" y="209"/>
                          <a:pt x="35" y="180"/>
                        </a:cubicBezTo>
                        <a:cubicBezTo>
                          <a:pt x="36" y="153"/>
                          <a:pt x="35" y="125"/>
                          <a:pt x="31" y="98"/>
                        </a:cubicBezTo>
                        <a:cubicBezTo>
                          <a:pt x="29" y="82"/>
                          <a:pt x="26" y="65"/>
                          <a:pt x="22" y="49"/>
                        </a:cubicBezTo>
                        <a:cubicBezTo>
                          <a:pt x="20" y="38"/>
                          <a:pt x="14" y="26"/>
                          <a:pt x="14" y="16"/>
                        </a:cubicBezTo>
                      </a:path>
                    </a:pathLst>
                  </a:custGeom>
                  <a:solidFill>
                    <a:srgbClr val="F4AC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9" name="Freeform 24">
                    <a:extLst>
                      <a:ext uri="{FF2B5EF4-FFF2-40B4-BE49-F238E27FC236}">
                        <a16:creationId xmlns:a16="http://schemas.microsoft.com/office/drawing/2014/main" id="{91E3E396-240D-2B6D-D006-43797AAC6F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9" y="1302"/>
                    <a:ext cx="665" cy="52"/>
                  </a:xfrm>
                  <a:custGeom>
                    <a:avLst/>
                    <a:gdLst>
                      <a:gd name="T0" fmla="*/ 14 w 421"/>
                      <a:gd name="T1" fmla="*/ 42 h 31"/>
                      <a:gd name="T2" fmla="*/ 1447 w 421"/>
                      <a:gd name="T3" fmla="*/ 20 h 31"/>
                      <a:gd name="T4" fmla="*/ 1659 w 421"/>
                      <a:gd name="T5" fmla="*/ 146 h 31"/>
                      <a:gd name="T6" fmla="*/ 1428 w 421"/>
                      <a:gd name="T7" fmla="*/ 0 h 31"/>
                      <a:gd name="T8" fmla="*/ 0 w 421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21" h="31">
                        <a:moveTo>
                          <a:pt x="4" y="9"/>
                        </a:moveTo>
                        <a:cubicBezTo>
                          <a:pt x="187" y="7"/>
                          <a:pt x="367" y="4"/>
                          <a:pt x="367" y="4"/>
                        </a:cubicBezTo>
                        <a:cubicBezTo>
                          <a:pt x="367" y="4"/>
                          <a:pt x="407" y="11"/>
                          <a:pt x="421" y="31"/>
                        </a:cubicBezTo>
                        <a:cubicBezTo>
                          <a:pt x="421" y="31"/>
                          <a:pt x="392" y="0"/>
                          <a:pt x="36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4D4D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0" name="Freeform 25">
                    <a:extLst>
                      <a:ext uri="{FF2B5EF4-FFF2-40B4-BE49-F238E27FC236}">
                        <a16:creationId xmlns:a16="http://schemas.microsoft.com/office/drawing/2014/main" id="{173B591C-5407-90A0-9F94-B6341BFB4C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" y="1302"/>
                    <a:ext cx="719" cy="86"/>
                  </a:xfrm>
                  <a:custGeom>
                    <a:avLst/>
                    <a:gdLst>
                      <a:gd name="T0" fmla="*/ 1781 w 455"/>
                      <a:gd name="T1" fmla="*/ 0 h 51"/>
                      <a:gd name="T2" fmla="*/ 307 w 455"/>
                      <a:gd name="T3" fmla="*/ 0 h 51"/>
                      <a:gd name="T4" fmla="*/ 0 w 455"/>
                      <a:gd name="T5" fmla="*/ 245 h 51"/>
                      <a:gd name="T6" fmla="*/ 324 w 455"/>
                      <a:gd name="T7" fmla="*/ 62 h 51"/>
                      <a:gd name="T8" fmla="*/ 1795 w 455"/>
                      <a:gd name="T9" fmla="*/ 42 h 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55" h="51">
                        <a:moveTo>
                          <a:pt x="451" y="0"/>
                        </a:move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8" y="0"/>
                          <a:pt x="17" y="8"/>
                          <a:pt x="0" y="51"/>
                        </a:cubicBezTo>
                        <a:cubicBezTo>
                          <a:pt x="0" y="51"/>
                          <a:pt x="34" y="13"/>
                          <a:pt x="82" y="13"/>
                        </a:cubicBezTo>
                        <a:cubicBezTo>
                          <a:pt x="105" y="13"/>
                          <a:pt x="281" y="11"/>
                          <a:pt x="455" y="9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1" name="Freeform 26">
                    <a:extLst>
                      <a:ext uri="{FF2B5EF4-FFF2-40B4-BE49-F238E27FC236}">
                        <a16:creationId xmlns:a16="http://schemas.microsoft.com/office/drawing/2014/main" id="{D73F341C-7E18-6390-D888-AD35ACAB2E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24"/>
                    <a:ext cx="597" cy="59"/>
                  </a:xfrm>
                  <a:custGeom>
                    <a:avLst/>
                    <a:gdLst>
                      <a:gd name="T0" fmla="*/ 0 w 378"/>
                      <a:gd name="T1" fmla="*/ 13 h 35"/>
                      <a:gd name="T2" fmla="*/ 5 w 378"/>
                      <a:gd name="T3" fmla="*/ 167 h 35"/>
                      <a:gd name="T4" fmla="*/ 1489 w 378"/>
                      <a:gd name="T5" fmla="*/ 86 h 35"/>
                      <a:gd name="T6" fmla="*/ 0 w 378"/>
                      <a:gd name="T7" fmla="*/ 13 h 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78" h="35">
                        <a:moveTo>
                          <a:pt x="0" y="3"/>
                        </a:moveTo>
                        <a:cubicBezTo>
                          <a:pt x="0" y="3"/>
                          <a:pt x="1" y="28"/>
                          <a:pt x="1" y="35"/>
                        </a:cubicBezTo>
                        <a:cubicBezTo>
                          <a:pt x="378" y="18"/>
                          <a:pt x="378" y="18"/>
                          <a:pt x="378" y="18"/>
                        </a:cubicBezTo>
                        <a:cubicBezTo>
                          <a:pt x="378" y="18"/>
                          <a:pt x="45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4545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2" name="Freeform 27">
                    <a:extLst>
                      <a:ext uri="{FF2B5EF4-FFF2-40B4-BE49-F238E27FC236}">
                        <a16:creationId xmlns:a16="http://schemas.microsoft.com/office/drawing/2014/main" id="{96B46D0D-76FC-5F4E-14C4-C86BC5486A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41"/>
                    <a:ext cx="493" cy="20"/>
                  </a:xfrm>
                  <a:custGeom>
                    <a:avLst/>
                    <a:gdLst>
                      <a:gd name="T0" fmla="*/ 0 w 493"/>
                      <a:gd name="T1" fmla="*/ 0 h 20"/>
                      <a:gd name="T2" fmla="*/ 1 w 493"/>
                      <a:gd name="T3" fmla="*/ 20 h 20"/>
                      <a:gd name="T4" fmla="*/ 493 w 493"/>
                      <a:gd name="T5" fmla="*/ 14 h 20"/>
                      <a:gd name="T6" fmla="*/ 0 w 493"/>
                      <a:gd name="T7" fmla="*/ 0 h 2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3" h="20">
                        <a:moveTo>
                          <a:pt x="0" y="0"/>
                        </a:moveTo>
                        <a:lnTo>
                          <a:pt x="1" y="20"/>
                        </a:lnTo>
                        <a:lnTo>
                          <a:pt x="493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3" name="Freeform 28">
                    <a:extLst>
                      <a:ext uri="{FF2B5EF4-FFF2-40B4-BE49-F238E27FC236}">
                        <a16:creationId xmlns:a16="http://schemas.microsoft.com/office/drawing/2014/main" id="{C53C00C7-88D9-2688-E611-99161B5B39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405"/>
                    <a:ext cx="1130" cy="27"/>
                  </a:xfrm>
                  <a:custGeom>
                    <a:avLst/>
                    <a:gdLst>
                      <a:gd name="T0" fmla="*/ 0 w 715"/>
                      <a:gd name="T1" fmla="*/ 0 h 16"/>
                      <a:gd name="T2" fmla="*/ 2823 w 715"/>
                      <a:gd name="T3" fmla="*/ 0 h 16"/>
                      <a:gd name="T4" fmla="*/ 0 w 715"/>
                      <a:gd name="T5" fmla="*/ 0 h 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15" h="16">
                        <a:moveTo>
                          <a:pt x="0" y="0"/>
                        </a:moveTo>
                        <a:cubicBezTo>
                          <a:pt x="715" y="0"/>
                          <a:pt x="715" y="0"/>
                          <a:pt x="715" y="0"/>
                        </a:cubicBezTo>
                        <a:cubicBezTo>
                          <a:pt x="715" y="0"/>
                          <a:pt x="123" y="1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4" name="Freeform 29">
                    <a:extLst>
                      <a:ext uri="{FF2B5EF4-FFF2-40B4-BE49-F238E27FC236}">
                        <a16:creationId xmlns:a16="http://schemas.microsoft.com/office/drawing/2014/main" id="{5D82B3DB-2078-0B04-248C-17000E738D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732"/>
                    <a:ext cx="592" cy="33"/>
                  </a:xfrm>
                  <a:custGeom>
                    <a:avLst/>
                    <a:gdLst>
                      <a:gd name="T0" fmla="*/ 1470 w 375"/>
                      <a:gd name="T1" fmla="*/ 89 h 20"/>
                      <a:gd name="T2" fmla="*/ 0 w 375"/>
                      <a:gd name="T3" fmla="*/ 0 h 20"/>
                      <a:gd name="T4" fmla="*/ 1476 w 375"/>
                      <a:gd name="T5" fmla="*/ 0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75" h="20">
                        <a:moveTo>
                          <a:pt x="374" y="20"/>
                        </a:moveTo>
                        <a:cubicBezTo>
                          <a:pt x="261" y="20"/>
                          <a:pt x="132" y="16"/>
                          <a:pt x="0" y="0"/>
                        </a:cubicBezTo>
                        <a:cubicBezTo>
                          <a:pt x="375" y="0"/>
                          <a:pt x="375" y="0"/>
                          <a:pt x="375" y="0"/>
                        </a:cubicBezTo>
                      </a:path>
                    </a:pathLst>
                  </a:custGeom>
                  <a:solidFill>
                    <a:srgbClr val="F49A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5" name="Freeform 30">
                    <a:extLst>
                      <a:ext uri="{FF2B5EF4-FFF2-40B4-BE49-F238E27FC236}">
                        <a16:creationId xmlns:a16="http://schemas.microsoft.com/office/drawing/2014/main" id="{C43F3392-A029-8ACC-64A8-234D23B87A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17" y="1732"/>
                    <a:ext cx="578" cy="33"/>
                  </a:xfrm>
                  <a:custGeom>
                    <a:avLst/>
                    <a:gdLst>
                      <a:gd name="T0" fmla="*/ 5 w 366"/>
                      <a:gd name="T1" fmla="*/ 0 h 20"/>
                      <a:gd name="T2" fmla="*/ 1442 w 366"/>
                      <a:gd name="T3" fmla="*/ 0 h 20"/>
                      <a:gd name="T4" fmla="*/ 0 w 366"/>
                      <a:gd name="T5" fmla="*/ 89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6" h="20">
                        <a:moveTo>
                          <a:pt x="1" y="0"/>
                        </a:moveTo>
                        <a:cubicBezTo>
                          <a:pt x="366" y="0"/>
                          <a:pt x="366" y="0"/>
                          <a:pt x="366" y="0"/>
                        </a:cubicBezTo>
                        <a:cubicBezTo>
                          <a:pt x="366" y="0"/>
                          <a:pt x="213" y="19"/>
                          <a:pt x="0" y="20"/>
                        </a:cubicBezTo>
                      </a:path>
                    </a:pathLst>
                  </a:custGeom>
                  <a:solidFill>
                    <a:srgbClr val="3131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6" name="Freeform 31">
                    <a:extLst>
                      <a:ext uri="{FF2B5EF4-FFF2-40B4-BE49-F238E27FC236}">
                        <a16:creationId xmlns:a16="http://schemas.microsoft.com/office/drawing/2014/main" id="{107D8914-33CD-5602-2AFD-16C7C99DBB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770" cy="741"/>
                  </a:xfrm>
                  <a:custGeom>
                    <a:avLst/>
                    <a:gdLst>
                      <a:gd name="T0" fmla="*/ 1924 w 487"/>
                      <a:gd name="T1" fmla="*/ 2102 h 440"/>
                      <a:gd name="T2" fmla="*/ 666 w 487"/>
                      <a:gd name="T3" fmla="*/ 2102 h 440"/>
                      <a:gd name="T4" fmla="*/ 0 w 487"/>
                      <a:gd name="T5" fmla="*/ 1251 h 440"/>
                      <a:gd name="T6" fmla="*/ 0 w 487"/>
                      <a:gd name="T7" fmla="*/ 854 h 440"/>
                      <a:gd name="T8" fmla="*/ 666 w 487"/>
                      <a:gd name="T9" fmla="*/ 0 h 440"/>
                      <a:gd name="T10" fmla="*/ 177 w 487"/>
                      <a:gd name="T11" fmla="*/ 1061 h 440"/>
                      <a:gd name="T12" fmla="*/ 761 w 487"/>
                      <a:gd name="T13" fmla="*/ 1925 h 440"/>
                      <a:gd name="T14" fmla="*/ 1924 w 487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87" h="440">
                        <a:moveTo>
                          <a:pt x="487" y="440"/>
                        </a:move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168" y="0"/>
                          <a:pt x="38" y="12"/>
                          <a:pt x="45" y="222"/>
                        </a:cubicBezTo>
                        <a:cubicBezTo>
                          <a:pt x="50" y="366"/>
                          <a:pt x="90" y="403"/>
                          <a:pt x="192" y="403"/>
                        </a:cubicBezTo>
                        <a:cubicBezTo>
                          <a:pt x="293" y="403"/>
                          <a:pt x="487" y="440"/>
                          <a:pt x="487" y="440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7" name="Freeform 32">
                    <a:extLst>
                      <a:ext uri="{FF2B5EF4-FFF2-40B4-BE49-F238E27FC236}">
                        <a16:creationId xmlns:a16="http://schemas.microsoft.com/office/drawing/2014/main" id="{BD571E4F-AA62-C16B-E0C1-8F70B11781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1470"/>
                    <a:ext cx="105" cy="346"/>
                  </a:xfrm>
                  <a:custGeom>
                    <a:avLst/>
                    <a:gdLst>
                      <a:gd name="T0" fmla="*/ 266 w 66"/>
                      <a:gd name="T1" fmla="*/ 484 h 205"/>
                      <a:gd name="T2" fmla="*/ 142 w 66"/>
                      <a:gd name="T3" fmla="*/ 986 h 205"/>
                      <a:gd name="T4" fmla="*/ 0 w 66"/>
                      <a:gd name="T5" fmla="*/ 484 h 205"/>
                      <a:gd name="T6" fmla="*/ 124 w 66"/>
                      <a:gd name="T7" fmla="*/ 0 h 205"/>
                      <a:gd name="T8" fmla="*/ 266 w 66"/>
                      <a:gd name="T9" fmla="*/ 484 h 2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05">
                        <a:moveTo>
                          <a:pt x="66" y="101"/>
                        </a:moveTo>
                        <a:cubicBezTo>
                          <a:pt x="66" y="141"/>
                          <a:pt x="54" y="205"/>
                          <a:pt x="35" y="205"/>
                        </a:cubicBezTo>
                        <a:cubicBezTo>
                          <a:pt x="17" y="205"/>
                          <a:pt x="0" y="141"/>
                          <a:pt x="0" y="101"/>
                        </a:cubicBezTo>
                        <a:cubicBezTo>
                          <a:pt x="0" y="61"/>
                          <a:pt x="13" y="0"/>
                          <a:pt x="31" y="0"/>
                        </a:cubicBezTo>
                        <a:cubicBezTo>
                          <a:pt x="49" y="0"/>
                          <a:pt x="66" y="61"/>
                          <a:pt x="66" y="101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22F16A3C-05C6-BE4F-9D03-FC703C5642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398"/>
                    <a:ext cx="26" cy="3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49" name="Oval 248">
                    <a:extLst>
                      <a:ext uri="{FF2B5EF4-FFF2-40B4-BE49-F238E27FC236}">
                        <a16:creationId xmlns:a16="http://schemas.microsoft.com/office/drawing/2014/main" id="{5FE6589F-4C9E-2862-976B-01EA960EB9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7" y="1452"/>
                    <a:ext cx="18" cy="2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0" name="Oval 249">
                    <a:extLst>
                      <a:ext uri="{FF2B5EF4-FFF2-40B4-BE49-F238E27FC236}">
                        <a16:creationId xmlns:a16="http://schemas.microsoft.com/office/drawing/2014/main" id="{99CD4A46-7585-D3E0-1A09-03DF0DAF66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5" y="1538"/>
                    <a:ext cx="27" cy="3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1" name="Freeform 36">
                    <a:extLst>
                      <a:ext uri="{FF2B5EF4-FFF2-40B4-BE49-F238E27FC236}">
                        <a16:creationId xmlns:a16="http://schemas.microsoft.com/office/drawing/2014/main" id="{51C7EEA9-868D-C8F8-5CB9-00E9C6F27E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4" y="1430"/>
                    <a:ext cx="67" cy="266"/>
                  </a:xfrm>
                  <a:custGeom>
                    <a:avLst/>
                    <a:gdLst>
                      <a:gd name="T0" fmla="*/ 73 w 42"/>
                      <a:gd name="T1" fmla="*/ 167 h 158"/>
                      <a:gd name="T2" fmla="*/ 97 w 42"/>
                      <a:gd name="T3" fmla="*/ 754 h 158"/>
                      <a:gd name="T4" fmla="*/ 136 w 42"/>
                      <a:gd name="T5" fmla="*/ 273 h 158"/>
                      <a:gd name="T6" fmla="*/ 0 w 42"/>
                      <a:gd name="T7" fmla="*/ 0 h 15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" h="158">
                        <a:moveTo>
                          <a:pt x="18" y="35"/>
                        </a:moveTo>
                        <a:cubicBezTo>
                          <a:pt x="35" y="78"/>
                          <a:pt x="19" y="116"/>
                          <a:pt x="24" y="158"/>
                        </a:cubicBezTo>
                        <a:cubicBezTo>
                          <a:pt x="40" y="131"/>
                          <a:pt x="42" y="87"/>
                          <a:pt x="33" y="57"/>
                        </a:cubicBezTo>
                        <a:cubicBezTo>
                          <a:pt x="27" y="35"/>
                          <a:pt x="5" y="18"/>
                          <a:pt x="0" y="0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2" name="Oval 251">
                    <a:extLst>
                      <a:ext uri="{FF2B5EF4-FFF2-40B4-BE49-F238E27FC236}">
                        <a16:creationId xmlns:a16="http://schemas.microsoft.com/office/drawing/2014/main" id="{CB447A9D-710A-A070-6BFA-603623C309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3" y="1408"/>
                    <a:ext cx="58" cy="78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8C59C08-9F0C-23EA-244C-A318DD619C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0" y="1514"/>
                    <a:ext cx="28" cy="44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4" name="Freeform 39">
                    <a:extLst>
                      <a:ext uri="{FF2B5EF4-FFF2-40B4-BE49-F238E27FC236}">
                        <a16:creationId xmlns:a16="http://schemas.microsoft.com/office/drawing/2014/main" id="{51451160-2810-187A-EE6B-AAEFFAF9C1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4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4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1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9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333333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5" name="Freeform 40">
                    <a:extLst>
                      <a:ext uri="{FF2B5EF4-FFF2-40B4-BE49-F238E27FC236}">
                        <a16:creationId xmlns:a16="http://schemas.microsoft.com/office/drawing/2014/main" id="{6170C3EA-7F75-516B-58B5-090A4722F5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5" y="1261"/>
                    <a:ext cx="54" cy="144"/>
                  </a:xfrm>
                  <a:custGeom>
                    <a:avLst/>
                    <a:gdLst>
                      <a:gd name="T0" fmla="*/ 0 w 34"/>
                      <a:gd name="T1" fmla="*/ 0 h 85"/>
                      <a:gd name="T2" fmla="*/ 137 w 34"/>
                      <a:gd name="T3" fmla="*/ 413 h 8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4" h="85">
                        <a:moveTo>
                          <a:pt x="0" y="0"/>
                        </a:moveTo>
                        <a:cubicBezTo>
                          <a:pt x="0" y="0"/>
                          <a:pt x="29" y="38"/>
                          <a:pt x="34" y="85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6" name="Freeform 41">
                    <a:extLst>
                      <a:ext uri="{FF2B5EF4-FFF2-40B4-BE49-F238E27FC236}">
                        <a16:creationId xmlns:a16="http://schemas.microsoft.com/office/drawing/2014/main" id="{0EB44835-F341-CA1D-FC58-4BD890D21A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8" y="1743"/>
                    <a:ext cx="60" cy="236"/>
                  </a:xfrm>
                  <a:custGeom>
                    <a:avLst/>
                    <a:gdLst>
                      <a:gd name="T0" fmla="*/ 150 w 38"/>
                      <a:gd name="T1" fmla="*/ 0 h 140"/>
                      <a:gd name="T2" fmla="*/ 0 w 38"/>
                      <a:gd name="T3" fmla="*/ 671 h 1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8" h="140">
                        <a:moveTo>
                          <a:pt x="38" y="0"/>
                        </a:moveTo>
                        <a:cubicBezTo>
                          <a:pt x="38" y="0"/>
                          <a:pt x="31" y="94"/>
                          <a:pt x="0" y="140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</p:grp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051E1D7-82B9-24D5-9E5F-7C03FBC68BCE}"/>
                  </a:ext>
                </a:extLst>
              </p:cNvPr>
              <p:cNvSpPr txBox="1"/>
              <p:nvPr/>
            </p:nvSpPr>
            <p:spPr>
              <a:xfrm>
                <a:off x="540090" y="4165049"/>
                <a:ext cx="35917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Elementwise similarity</a:t>
                </a:r>
                <a:br>
                  <a:rPr lang="en-US" sz="1200" dirty="0"/>
                </a:br>
                <a:r>
                  <a:rPr lang="en-US" sz="1200" i="1" dirty="0"/>
                  <a:t>(cosine alignment + absolute difference)</a:t>
                </a:r>
                <a:endParaRPr lang="en-US" sz="1200" dirty="0"/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9F9D4671-48A0-E72E-0D17-F98D94FF0AC8}"/>
                  </a:ext>
                </a:extLst>
              </p:cNvPr>
              <p:cNvGrpSpPr/>
              <p:nvPr/>
            </p:nvGrpSpPr>
            <p:grpSpPr>
              <a:xfrm>
                <a:off x="1139279" y="4699826"/>
                <a:ext cx="2332191" cy="465899"/>
                <a:chOff x="1529803" y="4041823"/>
                <a:chExt cx="1579661" cy="210363"/>
              </a:xfrm>
            </p:grpSpPr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098C849F-8487-ABE7-8736-4588A47D1446}"/>
                    </a:ext>
                  </a:extLst>
                </p:cNvPr>
                <p:cNvSpPr/>
                <p:nvPr/>
              </p:nvSpPr>
              <p:spPr>
                <a:xfrm>
                  <a:off x="1717816" y="4041823"/>
                  <a:ext cx="1179355" cy="210363"/>
                </a:xfrm>
                <a:prstGeom prst="roundRect">
                  <a:avLst/>
                </a:prstGeom>
                <a:solidFill>
                  <a:srgbClr val="C7C7C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50EDBD01-6089-7310-1811-70406074650F}"/>
                    </a:ext>
                  </a:extLst>
                </p:cNvPr>
                <p:cNvSpPr txBox="1"/>
                <p:nvPr/>
              </p:nvSpPr>
              <p:spPr>
                <a:xfrm>
                  <a:off x="1529803" y="4082092"/>
                  <a:ext cx="1579661" cy="125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Pair feature vector</a:t>
                  </a:r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C663445C-F1B5-ADC3-6FE2-81941B898DC9}"/>
                  </a:ext>
                </a:extLst>
              </p:cNvPr>
              <p:cNvGrpSpPr/>
              <p:nvPr/>
            </p:nvGrpSpPr>
            <p:grpSpPr>
              <a:xfrm>
                <a:off x="453482" y="3360017"/>
                <a:ext cx="1537860" cy="283346"/>
                <a:chOff x="1143001" y="3645769"/>
                <a:chExt cx="1537860" cy="283346"/>
              </a:xfrm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C9FFABE7-3220-374A-F3AE-30B719DC67E2}"/>
                    </a:ext>
                  </a:extLst>
                </p:cNvPr>
                <p:cNvSpPr/>
                <p:nvPr/>
              </p:nvSpPr>
              <p:spPr>
                <a:xfrm>
                  <a:off x="1143001" y="3645769"/>
                  <a:ext cx="1528070" cy="277000"/>
                </a:xfrm>
                <a:prstGeom prst="roundRect">
                  <a:avLst/>
                </a:prstGeom>
                <a:solidFill>
                  <a:srgbClr val="8DC5C1"/>
                </a:solidFill>
                <a:ln>
                  <a:solidFill>
                    <a:srgbClr val="8DC5C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7BDB5164-ED91-DDA4-9778-374AE3921A50}"/>
                    </a:ext>
                  </a:extLst>
                </p:cNvPr>
                <p:cNvSpPr txBox="1"/>
                <p:nvPr/>
              </p:nvSpPr>
              <p:spPr>
                <a:xfrm>
                  <a:off x="1152790" y="3652116"/>
                  <a:ext cx="15280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A feature set</a:t>
                  </a: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17E5A7F8-1391-4059-1647-A4EEB580C968}"/>
                  </a:ext>
                </a:extLst>
              </p:cNvPr>
              <p:cNvGrpSpPr/>
              <p:nvPr/>
            </p:nvGrpSpPr>
            <p:grpSpPr>
              <a:xfrm>
                <a:off x="540090" y="2581756"/>
                <a:ext cx="1451252" cy="277405"/>
                <a:chOff x="3983018" y="5863838"/>
                <a:chExt cx="1451252" cy="277405"/>
              </a:xfrm>
            </p:grpSpPr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4BC60E7B-AC23-ECCB-FC0B-9AC9AB2B2B2F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5F2B8A83-C2B5-8AAA-BFD4-2A12FCE9AF30}"/>
                    </a:ext>
                  </a:extLst>
                </p:cNvPr>
                <p:cNvSpPr txBox="1"/>
                <p:nvPr/>
              </p:nvSpPr>
              <p:spPr>
                <a:xfrm>
                  <a:off x="4038287" y="5863838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S-space (128D)</a:t>
                  </a:r>
                </a:p>
              </p:txBody>
            </p:sp>
          </p:grpSp>
          <p:sp>
            <p:nvSpPr>
              <p:cNvPr id="262" name="Arrow: Right 261">
                <a:extLst>
                  <a:ext uri="{FF2B5EF4-FFF2-40B4-BE49-F238E27FC236}">
                    <a16:creationId xmlns:a16="http://schemas.microsoft.com/office/drawing/2014/main" id="{C7DCF9C5-E564-626F-C350-FA5B7BB6E1BD}"/>
                  </a:ext>
                </a:extLst>
              </p:cNvPr>
              <p:cNvSpPr/>
              <p:nvPr/>
            </p:nvSpPr>
            <p:spPr>
              <a:xfrm rot="5400000">
                <a:off x="1136953" y="3078324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263" name="Arrow: Right 262">
                <a:extLst>
                  <a:ext uri="{FF2B5EF4-FFF2-40B4-BE49-F238E27FC236}">
                    <a16:creationId xmlns:a16="http://schemas.microsoft.com/office/drawing/2014/main" id="{4ED81CBB-0A75-92DE-E4A7-2C15739C4CD9}"/>
                  </a:ext>
                </a:extLst>
              </p:cNvPr>
              <p:cNvSpPr/>
              <p:nvPr/>
            </p:nvSpPr>
            <p:spPr>
              <a:xfrm rot="3830900">
                <a:off x="1345442" y="3899165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A3A9BA00-5337-F037-9C62-2376EAC39994}"/>
                  </a:ext>
                </a:extLst>
              </p:cNvPr>
              <p:cNvGrpSpPr/>
              <p:nvPr/>
            </p:nvGrpSpPr>
            <p:grpSpPr>
              <a:xfrm>
                <a:off x="2685755" y="2567678"/>
                <a:ext cx="1462027" cy="276999"/>
                <a:chOff x="3983018" y="5864244"/>
                <a:chExt cx="1462027" cy="276999"/>
              </a:xfrm>
            </p:grpSpPr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B10B3CCF-C32D-C7B2-6B10-C9E265131446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38136508-9ADB-FB5F-881B-0B937FF2B909}"/>
                    </a:ext>
                  </a:extLst>
                </p:cNvPr>
                <p:cNvSpPr txBox="1"/>
                <p:nvPr/>
              </p:nvSpPr>
              <p:spPr>
                <a:xfrm>
                  <a:off x="4049062" y="5864244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S-space (128D)</a:t>
                  </a:r>
                </a:p>
              </p:txBody>
            </p:sp>
          </p:grp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4D7DFC8E-258A-8498-CFCC-38AF543B9CD5}"/>
                  </a:ext>
                </a:extLst>
              </p:cNvPr>
              <p:cNvGrpSpPr/>
              <p:nvPr/>
            </p:nvGrpSpPr>
            <p:grpSpPr>
              <a:xfrm>
                <a:off x="2685755" y="3354721"/>
                <a:ext cx="1547650" cy="278258"/>
                <a:chOff x="1143001" y="3645769"/>
                <a:chExt cx="1547650" cy="278258"/>
              </a:xfrm>
            </p:grpSpPr>
            <p:sp>
              <p:nvSpPr>
                <p:cNvPr id="269" name="Rectangle: Rounded Corners 268">
                  <a:extLst>
                    <a:ext uri="{FF2B5EF4-FFF2-40B4-BE49-F238E27FC236}">
                      <a16:creationId xmlns:a16="http://schemas.microsoft.com/office/drawing/2014/main" id="{009A985E-EE70-90A4-F5C9-65AF42686A0D}"/>
                    </a:ext>
                  </a:extLst>
                </p:cNvPr>
                <p:cNvSpPr/>
                <p:nvPr/>
              </p:nvSpPr>
              <p:spPr>
                <a:xfrm>
                  <a:off x="1143001" y="3645769"/>
                  <a:ext cx="1528070" cy="277000"/>
                </a:xfrm>
                <a:prstGeom prst="roundRect">
                  <a:avLst/>
                </a:prstGeom>
                <a:solidFill>
                  <a:srgbClr val="8DC5C1"/>
                </a:solidFill>
                <a:ln>
                  <a:solidFill>
                    <a:srgbClr val="8DC5C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112F842B-775C-A221-AD82-94946915AACC}"/>
                    </a:ext>
                  </a:extLst>
                </p:cNvPr>
                <p:cNvSpPr txBox="1"/>
                <p:nvPr/>
              </p:nvSpPr>
              <p:spPr>
                <a:xfrm>
                  <a:off x="1162580" y="3647028"/>
                  <a:ext cx="15280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B feature set</a:t>
                  </a:r>
                </a:p>
              </p:txBody>
            </p:sp>
          </p:grpSp>
          <p:sp>
            <p:nvSpPr>
              <p:cNvPr id="271" name="Arrow: Right 270">
                <a:extLst>
                  <a:ext uri="{FF2B5EF4-FFF2-40B4-BE49-F238E27FC236}">
                    <a16:creationId xmlns:a16="http://schemas.microsoft.com/office/drawing/2014/main" id="{913C53C8-E0E3-0E5A-2B84-5BA46EEC02F9}"/>
                  </a:ext>
                </a:extLst>
              </p:cNvPr>
              <p:cNvSpPr/>
              <p:nvPr/>
            </p:nvSpPr>
            <p:spPr>
              <a:xfrm rot="5400000">
                <a:off x="3255071" y="3066510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272" name="Arrow: Right 271">
                <a:extLst>
                  <a:ext uri="{FF2B5EF4-FFF2-40B4-BE49-F238E27FC236}">
                    <a16:creationId xmlns:a16="http://schemas.microsoft.com/office/drawing/2014/main" id="{D54C503D-D8E4-FB2D-2973-78E035FBBD19}"/>
                  </a:ext>
                </a:extLst>
              </p:cNvPr>
              <p:cNvSpPr/>
              <p:nvPr/>
            </p:nvSpPr>
            <p:spPr>
              <a:xfrm rot="7209799">
                <a:off x="2966409" y="3893191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E7179B-01ED-DAF5-7D45-5C78767F1B21}"/>
                  </a:ext>
                </a:extLst>
              </p:cNvPr>
              <p:cNvSpPr txBox="1"/>
              <p:nvPr/>
            </p:nvSpPr>
            <p:spPr>
              <a:xfrm>
                <a:off x="4489445" y="1840862"/>
                <a:ext cx="21812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Level E. </a:t>
                </a:r>
                <a:r>
                  <a:rPr lang="en-US" sz="1000" dirty="0"/>
                  <a:t>Clinics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E7A80023-A051-E692-3F01-C678C3DB0A38}"/>
                  </a:ext>
                </a:extLst>
              </p:cNvPr>
              <p:cNvGrpSpPr/>
              <p:nvPr/>
            </p:nvGrpSpPr>
            <p:grpSpPr>
              <a:xfrm>
                <a:off x="3617889" y="1110868"/>
                <a:ext cx="3052785" cy="853105"/>
                <a:chOff x="3617889" y="1110868"/>
                <a:chExt cx="3052785" cy="85310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5A06BAA-40EF-03F8-E1D6-B833C24D9717}"/>
                    </a:ext>
                  </a:extLst>
                </p:cNvPr>
                <p:cNvSpPr txBox="1"/>
                <p:nvPr/>
              </p:nvSpPr>
              <p:spPr>
                <a:xfrm>
                  <a:off x="4489449" y="1110868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A. </a:t>
                  </a:r>
                  <a:r>
                    <a:rPr lang="en-US" sz="1000" dirty="0"/>
                    <a:t>Chemistry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1A33941-C7A1-63FC-F81D-D2CF8DACB9E3}"/>
                    </a:ext>
                  </a:extLst>
                </p:cNvPr>
                <p:cNvSpPr txBox="1"/>
                <p:nvPr/>
              </p:nvSpPr>
              <p:spPr>
                <a:xfrm>
                  <a:off x="4489449" y="1482990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C. </a:t>
                  </a:r>
                  <a:r>
                    <a:rPr lang="en-US" sz="1000" dirty="0"/>
                    <a:t>Networks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2B5E47-FB6F-FC88-0244-97EFC1FB81A7}"/>
                    </a:ext>
                  </a:extLst>
                </p:cNvPr>
                <p:cNvSpPr txBox="1"/>
                <p:nvPr/>
              </p:nvSpPr>
              <p:spPr>
                <a:xfrm>
                  <a:off x="4489447" y="1664865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D. </a:t>
                  </a:r>
                  <a:r>
                    <a:rPr lang="en-US" sz="1000" dirty="0"/>
                    <a:t>Cells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807953-5344-FE24-1F58-70F6EA319300}"/>
                    </a:ext>
                  </a:extLst>
                </p:cNvPr>
                <p:cNvSpPr txBox="1"/>
                <p:nvPr/>
              </p:nvSpPr>
              <p:spPr>
                <a:xfrm>
                  <a:off x="4489445" y="1292742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B. </a:t>
                  </a:r>
                  <a:r>
                    <a:rPr lang="en-US" sz="1000" dirty="0"/>
                    <a:t>Targets</a:t>
                  </a:r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FF5737C-4D88-A576-9F8B-F1F94F1C9D16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3617891" y="1606100"/>
                  <a:ext cx="871558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nector: Elbow 60">
                  <a:extLst>
                    <a:ext uri="{FF2B5EF4-FFF2-40B4-BE49-F238E27FC236}">
                      <a16:creationId xmlns:a16="http://schemas.microsoft.com/office/drawing/2014/main" id="{41CA4D77-F2CA-DA69-4E94-662FDD2857AA}"/>
                    </a:ext>
                  </a:extLst>
                </p:cNvPr>
                <p:cNvCxnSpPr>
                  <a:endCxn id="9" idx="1"/>
                </p:cNvCxnSpPr>
                <p:nvPr/>
              </p:nvCxnSpPr>
              <p:spPr>
                <a:xfrm flipV="1">
                  <a:off x="3617891" y="1233979"/>
                  <a:ext cx="871558" cy="204296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Connector: Elbow 62">
                  <a:extLst>
                    <a:ext uri="{FF2B5EF4-FFF2-40B4-BE49-F238E27FC236}">
                      <a16:creationId xmlns:a16="http://schemas.microsoft.com/office/drawing/2014/main" id="{4BED3EFF-FEC1-3684-3C3C-493D5DA57C0D}"/>
                    </a:ext>
                  </a:extLst>
                </p:cNvPr>
                <p:cNvCxnSpPr>
                  <a:endCxn id="13" idx="1"/>
                </p:cNvCxnSpPr>
                <p:nvPr/>
              </p:nvCxnSpPr>
              <p:spPr>
                <a:xfrm flipV="1">
                  <a:off x="3617891" y="1415853"/>
                  <a:ext cx="871554" cy="123110"/>
                </a:xfrm>
                <a:prstGeom prst="bentConnector3">
                  <a:avLst>
                    <a:gd name="adj1" fmla="val 5765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or: Elbow 65">
                  <a:extLst>
                    <a:ext uri="{FF2B5EF4-FFF2-40B4-BE49-F238E27FC236}">
                      <a16:creationId xmlns:a16="http://schemas.microsoft.com/office/drawing/2014/main" id="{D0884492-4E60-14B2-B7BB-51E6E4955C4A}"/>
                    </a:ext>
                  </a:extLst>
                </p:cNvPr>
                <p:cNvCxnSpPr>
                  <a:endCxn id="11" idx="1"/>
                </p:cNvCxnSpPr>
                <p:nvPr/>
              </p:nvCxnSpPr>
              <p:spPr>
                <a:xfrm>
                  <a:off x="3617891" y="1692275"/>
                  <a:ext cx="871556" cy="95701"/>
                </a:xfrm>
                <a:prstGeom prst="bentConnector3">
                  <a:avLst>
                    <a:gd name="adj1" fmla="val 57286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nector: Elbow 67">
                  <a:extLst>
                    <a:ext uri="{FF2B5EF4-FFF2-40B4-BE49-F238E27FC236}">
                      <a16:creationId xmlns:a16="http://schemas.microsoft.com/office/drawing/2014/main" id="{D1DD0565-569B-0DB9-54BE-2157FECCE5CB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>
                  <a:off x="3617889" y="1767750"/>
                  <a:ext cx="871556" cy="196223"/>
                </a:xfrm>
                <a:prstGeom prst="bentConnector3">
                  <a:avLst>
                    <a:gd name="adj1" fmla="val 49636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C4A0841-1169-AA78-544A-54B5162A7134}"/>
                  </a:ext>
                </a:extLst>
              </p:cNvPr>
              <p:cNvGrpSpPr/>
              <p:nvPr/>
            </p:nvGrpSpPr>
            <p:grpSpPr>
              <a:xfrm>
                <a:off x="540090" y="2245815"/>
                <a:ext cx="1415560" cy="277405"/>
                <a:chOff x="3983018" y="5871126"/>
                <a:chExt cx="1415560" cy="277405"/>
              </a:xfrm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552DE7E6-E167-EAEC-9CCF-FEC9B2EC15F2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E4D61AB-D5AB-9128-2734-AE5553B9DC72}"/>
                    </a:ext>
                  </a:extLst>
                </p:cNvPr>
                <p:cNvSpPr txBox="1"/>
                <p:nvPr/>
              </p:nvSpPr>
              <p:spPr>
                <a:xfrm>
                  <a:off x="3992138" y="5871532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CC (3200D)</a:t>
                  </a: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9E7836A7-8195-26C6-7A64-7C4C7A7C2119}"/>
                  </a:ext>
                </a:extLst>
              </p:cNvPr>
              <p:cNvGrpSpPr/>
              <p:nvPr/>
            </p:nvGrpSpPr>
            <p:grpSpPr>
              <a:xfrm>
                <a:off x="2685753" y="2221417"/>
                <a:ext cx="1415560" cy="276999"/>
                <a:chOff x="3983018" y="5867684"/>
                <a:chExt cx="1415560" cy="276999"/>
              </a:xfrm>
            </p:grpSpPr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2D07D7FE-82A2-6315-DBB5-31E55D8231E9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1DF9BFE-F937-3135-9C41-9A73E20BB107}"/>
                    </a:ext>
                  </a:extLst>
                </p:cNvPr>
                <p:cNvSpPr txBox="1"/>
                <p:nvPr/>
              </p:nvSpPr>
              <p:spPr>
                <a:xfrm>
                  <a:off x="3992806" y="5867684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CC (3200D)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7149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1510</TotalTime>
  <Words>367</Words>
  <Application>Microsoft Office PowerPoint</Application>
  <PresentationFormat>Widescreen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87</cp:revision>
  <dcterms:created xsi:type="dcterms:W3CDTF">2025-11-03T17:29:49Z</dcterms:created>
  <dcterms:modified xsi:type="dcterms:W3CDTF">2026-09-01T15:00:34Z</dcterms:modified>
</cp:coreProperties>
</file>