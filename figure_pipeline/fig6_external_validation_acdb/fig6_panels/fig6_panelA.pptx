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01C42-9051-D277-A70E-B48F498BA7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6FD1CC-695A-6A54-8364-671617CB86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11E3C-923C-18C5-5A6D-6C59AE84B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11C8E-6063-4129-BD22-C069975A38E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F21628-89C4-93FC-1936-C60140A84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72637-2E75-F48C-D3B1-6495F6B3F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20A68-B925-4CDA-B13B-CB638677D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369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469A6-2BB1-4542-C368-BEB928607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22E6E-D49D-7CD0-B105-78DB7389F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DA56D-81FD-6110-076E-ED804573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11C8E-6063-4129-BD22-C069975A38E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6BE029-DB1F-7C7B-081D-9EDECD76A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BCFC28-041B-6728-64C7-A7CDC0CC3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20A68-B925-4CDA-B13B-CB638677D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305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0AA1F-A754-F9E2-C347-ABEF58E82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4A16BD-A542-7C4E-9901-FB4A22116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45571-44DC-2198-E372-1427CBE38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11C8E-6063-4129-BD22-C069975A38E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4C251-5713-60E8-A9D7-3A7DA6A09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F2D57-F213-B586-7285-259FEA72A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20A68-B925-4CDA-B13B-CB638677D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281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04CC2-E08B-47EE-4C29-FB141E17C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1C518-FDA3-5827-26B9-C0D319822B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D2CE2E-C08B-716C-F871-1E315BEB38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D7BF63-D793-21E3-12B2-AEFC4B90C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11C8E-6063-4129-BD22-C069975A38E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530B48-725E-5209-4E19-2B609AC13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FDD292-D298-20E4-965C-A0CD850A5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20A68-B925-4CDA-B13B-CB638677D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305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F068D-B1C5-1657-43EB-E94BD5992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A2BF6-AE75-2B4B-C670-9E348F2E0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0CA2E2-B79A-7DD4-4CF8-E08A758F31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47E6F2-1FBE-F7CA-E995-03DC90D46A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66EBDD-5D87-5542-7973-03C5DE761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C2BD17-0CD8-AE4E-E01E-CF26A8A70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11C8E-6063-4129-BD22-C069975A38E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F29E5F-7959-71AA-0BDE-650C945D6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B30D2-81B7-9266-4D84-3FD79B6A8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20A68-B925-4CDA-B13B-CB638677D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38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BCA2E-B213-2F1F-41AE-9FB3155F3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8E97AA-BD23-C149-2FAE-92476065F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11C8E-6063-4129-BD22-C069975A38E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1BD30B-B0B1-B77E-B149-E4E10FA8A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221539-EE21-9E36-C251-C72FE3FAE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20A68-B925-4CDA-B13B-CB638677D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158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692383-A50B-9711-6E52-618B19D75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11C8E-6063-4129-BD22-C069975A38E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3E71A3-BF6F-062D-2F1A-3E871D8C7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254246-F278-29C4-3EB6-302DA1424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20A68-B925-4CDA-B13B-CB638677D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921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D01CB-5226-48EC-E15E-02376C832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33109-487F-B702-092B-B99E6F2655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E4A705-5223-5B5A-2479-415E6346BB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55456B-FEC6-A8A7-CCAD-717408FCB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11C8E-6063-4129-BD22-C069975A38E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892CAA-A12F-3BD1-B01C-D885D4252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A81860-A52B-85A3-24D9-1BCE45384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20A68-B925-4CDA-B13B-CB638677D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816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16027-2D34-1FAB-E6B0-F9A92A33C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F73E9C-B29E-B842-7AF4-BF6690C5F5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7C9568-D6FF-A060-BC4A-1BCAF8E332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30B844-8980-CEE6-77AC-B4E78383F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11C8E-6063-4129-BD22-C069975A38E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910A86-B436-17DC-55ED-4BE2A4FE5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4B9DF8-8239-0DA0-776A-E1A5DAFDE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20A68-B925-4CDA-B13B-CB638677D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61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DF4DD-AC6E-4BA0-279F-0CA960E57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51C5F5-311A-C3F1-2401-DC61ED498B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3AA952-F198-8B1C-A8A3-3A598A3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11C8E-6063-4129-BD22-C069975A38E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609795-5F2F-10D1-1FF2-6CC9CC193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C593C-BE54-2E3B-7D5F-86AEBC131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20A68-B925-4CDA-B13B-CB638677D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2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4C2589-FB1D-6EA1-87AA-6398EE3C16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44E556-1781-F350-FE78-B3A0002E14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FD8EEC-B002-E672-AC2E-F1977B432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11C8E-6063-4129-BD22-C069975A38E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5C241-A8AC-9302-C8EA-90DCB165B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DB6C79-7851-DEB1-A090-7BA684E35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20A68-B925-4CDA-B13B-CB638677D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504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8FF0A2-783F-3EDB-0890-AE0F06CC5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6F911-60CC-3E28-B3F4-D88C1BA94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D06E4-F87D-7C75-1359-55F412D394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811C8E-6063-4129-BD22-C069975A38E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69466-4369-A56E-1E8D-9FA41FA97D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7FC501-76B9-A361-5387-A4DB2BCA7E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020A68-B925-4CDA-B13B-CB638677D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006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0319E4-E57C-CF2A-D0D2-393D7B542DAF}"/>
              </a:ext>
            </a:extLst>
          </p:cNvPr>
          <p:cNvSpPr txBox="1"/>
          <p:nvPr/>
        </p:nvSpPr>
        <p:spPr>
          <a:xfrm>
            <a:off x="1380655" y="162514"/>
            <a:ext cx="54847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A. </a:t>
            </a:r>
            <a:r>
              <a:rPr lang="en-US" sz="1500" dirty="0"/>
              <a:t>Data preprocessing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CDABBF9-B001-5EB4-9959-AF32D0F76E4D}"/>
              </a:ext>
            </a:extLst>
          </p:cNvPr>
          <p:cNvGrpSpPr/>
          <p:nvPr/>
        </p:nvGrpSpPr>
        <p:grpSpPr>
          <a:xfrm>
            <a:off x="8738752" y="715724"/>
            <a:ext cx="1920219" cy="1138492"/>
            <a:chOff x="10146436" y="901708"/>
            <a:chExt cx="1920219" cy="113849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385EF19-2C34-F5EC-27D7-CD1AE49EDE85}"/>
                </a:ext>
              </a:extLst>
            </p:cNvPr>
            <p:cNvGrpSpPr/>
            <p:nvPr/>
          </p:nvGrpSpPr>
          <p:grpSpPr>
            <a:xfrm>
              <a:off x="10146436" y="901708"/>
              <a:ext cx="1920219" cy="977846"/>
              <a:chOff x="4598924" y="4776369"/>
              <a:chExt cx="2972700" cy="1062282"/>
            </a:xfrm>
          </p:grpSpPr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C0BEB3EB-7C5E-CBFD-C861-54A7E879CA6E}"/>
                  </a:ext>
                </a:extLst>
              </p:cNvPr>
              <p:cNvSpPr/>
              <p:nvPr/>
            </p:nvSpPr>
            <p:spPr>
              <a:xfrm>
                <a:off x="4598924" y="4776369"/>
                <a:ext cx="2935575" cy="1062282"/>
              </a:xfrm>
              <a:prstGeom prst="roundRect">
                <a:avLst/>
              </a:prstGeom>
              <a:solidFill>
                <a:srgbClr val="C7C7C7"/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73" dirty="0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3262B23-BF91-1C13-7FB3-A789A67F09A4}"/>
                  </a:ext>
                </a:extLst>
              </p:cNvPr>
              <p:cNvSpPr txBox="1"/>
              <p:nvPr/>
            </p:nvSpPr>
            <p:spPr>
              <a:xfrm>
                <a:off x="4636049" y="4988698"/>
                <a:ext cx="2935575" cy="651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b="1" dirty="0"/>
                  <a:t>Final evaluation set – 76 drug pair instances</a:t>
                </a:r>
                <a:br>
                  <a:rPr lang="en-US" sz="1100" dirty="0"/>
                </a:br>
                <a:r>
                  <a:rPr lang="en-US" sz="1100" dirty="0"/>
                  <a:t> 54 antibacterials</a:t>
                </a:r>
              </a:p>
            </p:txBody>
          </p:sp>
        </p:grp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A371296E-163E-AF2B-B626-0489A222CC0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699247" y="1718908"/>
              <a:ext cx="261050" cy="321292"/>
            </a:xfrm>
            <a:prstGeom prst="rect">
              <a:avLst/>
            </a:prstGeom>
          </p:spPr>
        </p:pic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B8C412CA-6F60-4120-B866-A8D7E5790654}"/>
              </a:ext>
            </a:extLst>
          </p:cNvPr>
          <p:cNvSpPr txBox="1"/>
          <p:nvPr/>
        </p:nvSpPr>
        <p:spPr>
          <a:xfrm>
            <a:off x="7103486" y="894563"/>
            <a:ext cx="124501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Binarizing the labels using database labels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39D7D310-BC25-598A-E298-C6FCE98ED08A}"/>
              </a:ext>
            </a:extLst>
          </p:cNvPr>
          <p:cNvSpPr/>
          <p:nvPr/>
        </p:nvSpPr>
        <p:spPr>
          <a:xfrm>
            <a:off x="3961079" y="819383"/>
            <a:ext cx="2680650" cy="851442"/>
          </a:xfrm>
          <a:prstGeom prst="roundRect">
            <a:avLst/>
          </a:prstGeom>
          <a:solidFill>
            <a:srgbClr val="8DC5C1"/>
          </a:solidFill>
          <a:ln>
            <a:solidFill>
              <a:srgbClr val="8DC5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73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F76227D-5472-FF88-B33A-B9A9B5C868D7}"/>
              </a:ext>
            </a:extLst>
          </p:cNvPr>
          <p:cNvSpPr txBox="1"/>
          <p:nvPr/>
        </p:nvSpPr>
        <p:spPr>
          <a:xfrm>
            <a:off x="3989308" y="882846"/>
            <a:ext cx="2723928" cy="76944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93" indent="-285793">
              <a:buFont typeface="Arial" panose="020B0604020202020204" pitchFamily="34" charset="0"/>
              <a:buChar char="•"/>
            </a:pPr>
            <a:r>
              <a:rPr lang="en-US" sz="1100" dirty="0" err="1"/>
              <a:t>Inchikey</a:t>
            </a:r>
            <a:r>
              <a:rPr lang="en-US" sz="1100" dirty="0"/>
              <a:t> mapping</a:t>
            </a:r>
          </a:p>
          <a:p>
            <a:pPr marL="285793" indent="-285793">
              <a:buFont typeface="Arial" panose="020B0604020202020204" pitchFamily="34" charset="0"/>
              <a:buChar char="•"/>
            </a:pPr>
            <a:r>
              <a:rPr lang="en-US" sz="1100" dirty="0"/>
              <a:t>Filter to approved antibacterials</a:t>
            </a:r>
          </a:p>
          <a:p>
            <a:pPr marL="285793" indent="-285793">
              <a:buFont typeface="Arial" panose="020B0604020202020204" pitchFamily="34" charset="0"/>
              <a:buChar char="•"/>
            </a:pPr>
            <a:r>
              <a:rPr lang="en-US" sz="1100" dirty="0"/>
              <a:t>Exclude non-antibacterial compounds</a:t>
            </a:r>
          </a:p>
          <a:p>
            <a:pPr marL="285793" indent="-285793">
              <a:buFont typeface="Arial" panose="020B0604020202020204" pitchFamily="34" charset="0"/>
              <a:buChar char="•"/>
            </a:pPr>
            <a:r>
              <a:rPr lang="en-US" sz="1100" dirty="0"/>
              <a:t>Remove overlapping pairs with HALO’s</a:t>
            </a:r>
            <a:endParaRPr lang="en-US" sz="9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1D7E92-9AB1-569B-A80B-8BBB3325C198}"/>
              </a:ext>
            </a:extLst>
          </p:cNvPr>
          <p:cNvSpPr txBox="1"/>
          <p:nvPr/>
        </p:nvSpPr>
        <p:spPr>
          <a:xfrm>
            <a:off x="1542673" y="1821565"/>
            <a:ext cx="1586227" cy="261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1" b="1" dirty="0"/>
              <a:t>Raw</a:t>
            </a:r>
            <a:r>
              <a:rPr lang="en-US" sz="1101" dirty="0"/>
              <a:t> ≈ 334 Drug pairs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802B556-2D83-FD2B-F7F7-658709A92A0C}"/>
              </a:ext>
            </a:extLst>
          </p:cNvPr>
          <p:cNvGrpSpPr/>
          <p:nvPr/>
        </p:nvGrpSpPr>
        <p:grpSpPr>
          <a:xfrm>
            <a:off x="1395939" y="645651"/>
            <a:ext cx="1757687" cy="1175914"/>
            <a:chOff x="2095908" y="4304896"/>
            <a:chExt cx="1757687" cy="1175915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3D894FC8-B667-9FD8-A23E-4CC8BB5AE729}"/>
                </a:ext>
              </a:extLst>
            </p:cNvPr>
            <p:cNvSpPr/>
            <p:nvPr/>
          </p:nvSpPr>
          <p:spPr>
            <a:xfrm>
              <a:off x="2141950" y="4304896"/>
              <a:ext cx="1711645" cy="1175915"/>
            </a:xfrm>
            <a:prstGeom prst="roundRect">
              <a:avLst/>
            </a:prstGeom>
            <a:solidFill>
              <a:srgbClr val="7BAFD4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73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BC4B862-5D6A-5F70-8396-C0C27563759C}"/>
                </a:ext>
              </a:extLst>
            </p:cNvPr>
            <p:cNvSpPr txBox="1"/>
            <p:nvPr/>
          </p:nvSpPr>
          <p:spPr>
            <a:xfrm>
              <a:off x="2095908" y="4513909"/>
              <a:ext cx="1732961" cy="830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 different portion of the ACDB dataset</a:t>
              </a: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r>
                <a:rPr lang="en-US" sz="1200" dirty="0"/>
                <a:t>Loewe </a:t>
              </a:r>
              <a:r>
                <a:rPr lang="el-GR" sz="1200" dirty="0"/>
                <a:t>α</a:t>
              </a:r>
              <a:r>
                <a:rPr lang="en-US" sz="1200" dirty="0"/>
                <a:t> and FICI interaction scores</a:t>
              </a:r>
            </a:p>
          </p:txBody>
        </p:sp>
      </p:grpSp>
      <p:pic>
        <p:nvPicPr>
          <p:cNvPr id="18" name="Graphic 17">
            <a:extLst>
              <a:ext uri="{FF2B5EF4-FFF2-40B4-BE49-F238E27FC236}">
                <a16:creationId xmlns:a16="http://schemas.microsoft.com/office/drawing/2014/main" id="{F2538641-32C3-D44A-E457-AED9E503D7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32556" y="1008296"/>
            <a:ext cx="314524" cy="387106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739F3084-90D5-8996-3EE3-E63AB31CEBF9}"/>
              </a:ext>
            </a:extLst>
          </p:cNvPr>
          <p:cNvSpPr/>
          <p:nvPr/>
        </p:nvSpPr>
        <p:spPr>
          <a:xfrm>
            <a:off x="3609670" y="1164691"/>
            <a:ext cx="279902" cy="97092"/>
          </a:xfrm>
          <a:prstGeom prst="rightArrow">
            <a:avLst/>
          </a:prstGeom>
          <a:solidFill>
            <a:srgbClr val="1F77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73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6FEA7958-2F7A-024A-E85C-ED3E02323FF3}"/>
              </a:ext>
            </a:extLst>
          </p:cNvPr>
          <p:cNvSpPr/>
          <p:nvPr/>
        </p:nvSpPr>
        <p:spPr>
          <a:xfrm>
            <a:off x="6733928" y="1187878"/>
            <a:ext cx="279902" cy="97092"/>
          </a:xfrm>
          <a:prstGeom prst="rightArrow">
            <a:avLst/>
          </a:prstGeom>
          <a:solidFill>
            <a:srgbClr val="1F77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73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A1E8FDCD-CA9B-1051-A4FF-DAC4FBA0C2E8}"/>
              </a:ext>
            </a:extLst>
          </p:cNvPr>
          <p:cNvSpPr/>
          <p:nvPr/>
        </p:nvSpPr>
        <p:spPr>
          <a:xfrm>
            <a:off x="8348502" y="1173070"/>
            <a:ext cx="279902" cy="97092"/>
          </a:xfrm>
          <a:prstGeom prst="rightArrow">
            <a:avLst/>
          </a:prstGeom>
          <a:solidFill>
            <a:srgbClr val="1F77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73"/>
          </a:p>
        </p:txBody>
      </p:sp>
    </p:spTree>
    <p:extLst>
      <p:ext uri="{BB962C8B-B14F-4D97-AF65-F5344CB8AC3E}">
        <p14:creationId xmlns:p14="http://schemas.microsoft.com/office/powerpoint/2010/main" val="2222568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54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Hannie Yousefabadi</dc:creator>
  <cp:lastModifiedBy>Hannie Yousefabadi</cp:lastModifiedBy>
  <cp:revision>8</cp:revision>
  <dcterms:created xsi:type="dcterms:W3CDTF">2026-01-16T18:53:40Z</dcterms:created>
  <dcterms:modified xsi:type="dcterms:W3CDTF">2026-09-01T15:07:52Z</dcterms:modified>
</cp:coreProperties>
</file>